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5" r:id="rId7"/>
    <p:sldId id="276" r:id="rId8"/>
    <p:sldId id="279" r:id="rId9"/>
    <p:sldId id="277" r:id="rId10"/>
    <p:sldId id="278" r:id="rId11"/>
    <p:sldId id="281" r:id="rId12"/>
    <p:sldId id="283" r:id="rId13"/>
    <p:sldId id="273" r:id="rId14"/>
    <p:sldId id="271" r:id="rId15"/>
    <p:sldId id="290" r:id="rId16"/>
    <p:sldId id="270" r:id="rId17"/>
    <p:sldId id="265" r:id="rId18"/>
    <p:sldId id="280" r:id="rId19"/>
    <p:sldId id="26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20https://github.com/imrxnsk/SmartEduRural.git"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dirty="0">
                <a:solidFill>
                  <a:schemeClr val="tx1"/>
                </a:solidFill>
                <a:latin typeface="Cambria"/>
                <a:ea typeface="Cambria"/>
                <a:sym typeface="+mn-ea"/>
              </a:rPr>
              <a:t>SYSTEM TO ENHANCE EDUCATION QUALITY IN RURAL AREAS</a:t>
            </a:r>
            <a:endParaRPr lang="en-GB" sz="2400" dirty="0">
              <a:solidFill>
                <a:schemeClr val="tx1"/>
              </a:solidFill>
              <a:latin typeface="Cambria"/>
              <a:ea typeface="Cambria"/>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a:ea typeface="Cambria"/>
              </a:rPr>
              <a:t>Batch Number: CSE_94</a:t>
            </a:r>
            <a:endParaRPr sz="180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a:ea typeface="Cambria"/>
                <a:cs typeface="Verdana" panose="020B0604030504040204"/>
                <a:sym typeface="Verdana" panose="020B0604030504040204"/>
              </a:rPr>
              <a:t>Under the Supervision of,</a:t>
            </a:r>
            <a:endParaRPr sz="1800" dirty="0">
              <a:latin typeface="Cambria"/>
              <a:ea typeface="Cambria"/>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algn="just">
              <a:spcBef>
                <a:spcPts val="340"/>
              </a:spcBef>
              <a:buClr>
                <a:srgbClr val="17365D"/>
              </a:buClr>
              <a:buSzPts val="1700"/>
            </a:pPr>
            <a:r>
              <a:rPr lang="en-GB" sz="1700" b="1" i="0" u="none" strike="noStrike" cap="none" dirty="0">
                <a:solidFill>
                  <a:srgbClr val="17365D"/>
                </a:solidFill>
                <a:latin typeface="Cambria"/>
                <a:ea typeface="Cambria"/>
                <a:cs typeface="Verdana" panose="020B0604030504040204"/>
                <a:sym typeface="Verdana" panose="020B0604030504040204"/>
              </a:rPr>
              <a:t>Dr.</a:t>
            </a:r>
            <a:r>
              <a:rPr lang="en-GB" sz="1700" b="1" dirty="0">
                <a:solidFill>
                  <a:srgbClr val="17365D"/>
                </a:solidFill>
                <a:latin typeface="Cambria"/>
                <a:ea typeface="Cambria"/>
                <a:cs typeface="Verdana" panose="020B0604030504040204"/>
                <a:sym typeface="Verdana" panose="020B0604030504040204"/>
              </a:rPr>
              <a:t> Prema Arokia Mary G</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panose="020B0604020202020204"/>
              <a:buNone/>
            </a:pPr>
            <a:r>
              <a:rPr lang="en-GB" sz="1700" b="1" dirty="0">
                <a:solidFill>
                  <a:srgbClr val="17365D"/>
                </a:solidFill>
                <a:latin typeface="Cambria"/>
                <a:ea typeface="Cambria"/>
                <a:cs typeface="Verdana" panose="020B0604030504040204"/>
                <a:sym typeface="Verdana" panose="020B0604030504040204"/>
              </a:rPr>
              <a:t>Associate</a:t>
            </a:r>
            <a:r>
              <a:rPr lang="en-GB" sz="1700" b="1" i="0" u="none" strike="noStrike" cap="none" dirty="0">
                <a:solidFill>
                  <a:srgbClr val="17365D"/>
                </a:solidFill>
                <a:latin typeface="Cambria"/>
                <a:ea typeface="Cambria"/>
                <a:cs typeface="Verdana" panose="020B0604030504040204"/>
                <a:sym typeface="Verdana" panose="020B0604030504040204"/>
              </a:rPr>
              <a:t> Professor </a:t>
            </a:r>
            <a:endParaRPr dirty="0">
              <a:latin typeface="Cambria"/>
              <a:ea typeface="Cambria"/>
            </a:endParaRPr>
          </a:p>
          <a:p>
            <a:pPr marL="0" marR="0" lvl="0" indent="0" algn="just"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a:ea typeface="Cambria"/>
                <a:cs typeface="Verdana" panose="020B0604030504040204"/>
                <a:sym typeface="Verdana" panose="020B0604030504040204"/>
              </a:rPr>
              <a:t>School of Computer Science and Engineering</a:t>
            </a:r>
            <a:endParaRPr dirty="0">
              <a:latin typeface="Cambria"/>
              <a:ea typeface="Cambria"/>
            </a:endParaRPr>
          </a:p>
          <a:p>
            <a:pPr marL="0" marR="0" lvl="0" indent="0" algn="just"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a:ea typeface="Cambria"/>
                <a:cs typeface="Verdana" panose="020B0604030504040204"/>
                <a:sym typeface="Verdana" panose="020B0604030504040204"/>
              </a:rPr>
              <a:t>Presidency University</a:t>
            </a:r>
            <a:endParaRPr dirty="0">
              <a:latin typeface="Cambria"/>
              <a:ea typeface="Cambria"/>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468940"/>
        </p:xfrm>
        <a:graphic>
          <a:graphicData uri="http://schemas.openxmlformats.org/drawingml/2006/table">
            <a:tbl>
              <a:tblPr firstRow="1" bandRow="1">
                <a:noFill/>
                <a:tableStyleId>{57690726-49DA-4552-BDEB-330DD8EA8BD9}</a:tableStyleId>
              </a:tblPr>
              <a:tblGrid>
                <a:gridCol w="2085000"/>
                <a:gridCol w="3333675"/>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Font typeface="+mj-lt"/>
                        <a:buNone/>
                      </a:pPr>
                      <a:r>
                        <a:rPr lang="en-US" sz="1800" u="none" strike="noStrike" cap="none" dirty="0"/>
                        <a:t>20221CSE0484</a:t>
                      </a:r>
                      <a:endParaRPr lang="en-US"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K SAI SRI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US" sz="1800" u="none" strike="noStrike" cap="none" dirty="0"/>
                        <a:t>20221CSE0446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MEGHANA 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US" sz="1800" u="none" strike="noStrike" cap="none" dirty="0"/>
                        <a:t>20221CSE0061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SHAIK MOHAMMED IMRAN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a:ea typeface="Cambria"/>
                <a:cs typeface="Verdana" panose="020B0604030504040204"/>
                <a:sym typeface="Verdana" panose="020B0604030504040204"/>
              </a:rPr>
              <a:t>CSE7101-</a:t>
            </a:r>
            <a:r>
              <a:rPr lang="en-GB" sz="1800" b="1" i="0" u="none" strike="noStrike" cap="none" dirty="0">
                <a:solidFill>
                  <a:srgbClr val="17365D"/>
                </a:solidFill>
                <a:latin typeface="Cambria"/>
                <a:ea typeface="Cambria"/>
                <a:cs typeface="Verdana" panose="020B0604030504040204"/>
                <a:sym typeface="Verdana" panose="020B0604030504040204"/>
              </a:rPr>
              <a:t> Capstone Project</a:t>
            </a:r>
            <a:endParaRPr sz="1800" dirty="0">
              <a:latin typeface="Cambria"/>
              <a:ea typeface="Cambria"/>
            </a:endParaRPr>
          </a:p>
          <a:p>
            <a:pPr marL="0" marR="0" lvl="0" indent="0" algn="ctr" rtl="0">
              <a:spcBef>
                <a:spcPts val="310"/>
              </a:spcBef>
              <a:spcAft>
                <a:spcPts val="0"/>
              </a:spcAft>
              <a:buClr>
                <a:srgbClr val="17365D"/>
              </a:buClr>
              <a:buSzPct val="100000"/>
              <a:buFont typeface="Arial" panose="020B0604020202020204"/>
              <a:buNone/>
            </a:pPr>
            <a:r>
              <a:rPr lang="en-GB" sz="1800" b="1" dirty="0">
                <a:solidFill>
                  <a:srgbClr val="17365D"/>
                </a:solidFill>
                <a:latin typeface="Cambria"/>
                <a:ea typeface="Cambria"/>
                <a:cs typeface="Verdana" panose="020B0604030504040204"/>
                <a:sym typeface="Verdana" panose="020B0604030504040204"/>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a:t>
            </a:r>
            <a:r>
              <a:rPr lang="en-US" sz="1800" b="1" dirty="0" err="1">
                <a:solidFill>
                  <a:schemeClr val="accent1"/>
                </a:solidFill>
                <a:latin typeface="Cambria"/>
                <a:ea typeface="Cambria"/>
                <a:cs typeface="Verdana" panose="020B0604030504040204"/>
                <a:sym typeface="Verdana" panose="020B0604030504040204"/>
              </a:rPr>
              <a:t>B.Tech</a:t>
            </a:r>
            <a:r>
              <a:rPr lang="en-US" sz="1800" b="1" dirty="0">
                <a:solidFill>
                  <a:schemeClr val="accent1"/>
                </a:solidFill>
                <a:latin typeface="Cambria"/>
                <a:ea typeface="Cambria"/>
                <a:cs typeface="Verdana" panose="020B0604030504040204"/>
                <a:sym typeface="Verdana" panose="020B0604030504040204"/>
              </a:rPr>
              <a:t>, 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a:t>
            </a:r>
            <a:r>
              <a:rPr lang="en-US" sz="1800" b="1" dirty="0" err="1">
                <a:solidFill>
                  <a:schemeClr val="accent1"/>
                </a:solidFill>
                <a:latin typeface="Cambria"/>
                <a:ea typeface="Cambria"/>
                <a:cs typeface="Verdana" panose="020B0604030504040204"/>
                <a:sym typeface="Verdana" panose="020B0604030504040204"/>
              </a:rPr>
              <a:t>HoD</a:t>
            </a:r>
            <a:r>
              <a:rPr lang="en-US" sz="1800" b="1" dirty="0">
                <a:solidFill>
                  <a:schemeClr val="accent1"/>
                </a:solidFill>
                <a:latin typeface="Cambria"/>
                <a:ea typeface="Cambria"/>
                <a:cs typeface="Verdana" panose="020B0604030504040204"/>
                <a:sym typeface="Verdana" panose="020B0604030504040204"/>
              </a:rPr>
              <a:t>: </a:t>
            </a:r>
            <a:r>
              <a:rPr lang="en-US" sz="1800" b="1" dirty="0">
                <a:solidFill>
                  <a:schemeClr val="tx1"/>
                </a:solidFill>
                <a:latin typeface="Cambria"/>
                <a:ea typeface="Cambria"/>
                <a:cs typeface="Verdana" panose="020B0604030504040204"/>
                <a:sym typeface="Verdana" panose="020B0604030504040204"/>
              </a:rPr>
              <a:t>Dr. Blessed Prince</a:t>
            </a:r>
            <a:endParaRPr lang="en-US" sz="1800" b="1" dirty="0">
              <a:solidFill>
                <a:srgbClr val="FF0000"/>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Project Coordinator: </a:t>
            </a:r>
            <a:r>
              <a:rPr lang="en-US" sz="1800" b="1" dirty="0">
                <a:solidFill>
                  <a:schemeClr val="tx1"/>
                </a:solidFill>
                <a:latin typeface="Cambria"/>
                <a:ea typeface="Cambria"/>
                <a:cs typeface="Verdana" panose="020B0604030504040204"/>
                <a:sym typeface="Verdana" panose="020B0604030504040204"/>
              </a:rPr>
              <a:t>DR. MUTHURAJU V</a:t>
            </a:r>
            <a:endParaRPr lang="en-US" sz="1800" b="1" dirty="0">
              <a:solidFill>
                <a:srgbClr val="FF0000"/>
              </a:solidFill>
              <a:latin typeface="Cambria" panose="02040503050406030204" pitchFamily="18" charset="0"/>
              <a:ea typeface="Cambria" panose="02040503050406030204" pitchFamily="18" charset="0"/>
              <a:cs typeface="Verdana" panose="020B0604030504040204"/>
            </a:endParaRPr>
          </a:p>
          <a:p>
            <a:pPr lvl="0">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School Project Coordinators: </a:t>
            </a:r>
            <a:r>
              <a:rPr lang="en-US" sz="1800" b="1" i="0" u="none" strike="noStrike" cap="none" dirty="0">
                <a:solidFill>
                  <a:schemeClr val="tx1"/>
                </a:solidFill>
                <a:latin typeface="Cambria"/>
                <a:ea typeface="Cambria"/>
                <a:cs typeface="Verdana" panose="020B0604030504040204"/>
                <a:sym typeface="Verdana" panose="020B0604030504040204"/>
              </a:rPr>
              <a:t>Dr. Sampath A K , Dr. Geetha A </a:t>
            </a:r>
            <a:endParaRPr sz="1800" b="1" i="0" u="none" strike="noStrike" cap="none" dirty="0">
              <a:solidFill>
                <a:schemeClr val="tx1"/>
              </a:solidFill>
              <a:latin typeface="Cambria"/>
              <a:ea typeface="Cambria"/>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Content</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1037590"/>
            <a:ext cx="10668000" cy="4973320"/>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Problem Statement</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Objectives</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Background and Related work for title Selection</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Architecture Diagram</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Modules</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Hardware and Software Requirements</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rPr>
              <a:t>Innovation or Novel Contributions</a:t>
            </a:r>
            <a:endParaRPr lang="en-US" sz="32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err="1">
                <a:latin typeface="Cambria" panose="02040503050406030204" pitchFamily="18" charset="0"/>
                <a:ea typeface="Cambria" panose="02040503050406030204" pitchFamily="18" charset="0"/>
              </a:rPr>
              <a:t>Git</a:t>
            </a:r>
            <a:r>
              <a:rPr lang="en-US">
                <a:latin typeface="Cambria" panose="02040503050406030204" pitchFamily="18" charset="0"/>
                <a:ea typeface="Cambria" panose="02040503050406030204" pitchFamily="18" charset="0"/>
              </a:rPr>
              <a:t>-hub Link</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Timeline of the Project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rPr>
              <a:t>References</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a:ea typeface="Cambria"/>
              </a:rPr>
              <a:t>Problem Statement</a:t>
            </a:r>
            <a:endParaRPr>
              <a:latin typeface="Cambria"/>
              <a:ea typeface="Cambria"/>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2500"/>
          </a:bodyPr>
          <a:lstStyle/>
          <a:p>
            <a:pPr marL="342900" indent="-190500">
              <a:lnSpc>
                <a:spcPct val="170000"/>
              </a:lnSpc>
              <a:spcBef>
                <a:spcPts val="0"/>
              </a:spcBef>
              <a:buNone/>
            </a:pPr>
            <a:r>
              <a:rPr lang="en-US" b="1" dirty="0">
                <a:latin typeface="Cambria"/>
                <a:ea typeface="Cambria"/>
              </a:rPr>
              <a:t>Problem Statement Number:</a:t>
            </a:r>
            <a:r>
              <a:rPr lang="en-US" dirty="0">
                <a:latin typeface="Cambria"/>
                <a:ea typeface="Cambria"/>
              </a:rPr>
              <a:t> PSCS_32</a:t>
            </a:r>
            <a:endParaRPr lang="en-US" dirty="0"/>
          </a:p>
          <a:p>
            <a:pPr marL="342900" indent="-190500">
              <a:lnSpc>
                <a:spcPct val="170000"/>
              </a:lnSpc>
              <a:spcBef>
                <a:spcPts val="0"/>
              </a:spcBef>
              <a:buNone/>
            </a:pPr>
            <a:r>
              <a:rPr lang="en-US" b="1" dirty="0">
                <a:latin typeface="Cambria"/>
                <a:ea typeface="Cambria"/>
              </a:rPr>
              <a:t>Organization:</a:t>
            </a:r>
            <a:r>
              <a:rPr lang="en-US" dirty="0">
                <a:latin typeface="Cambria"/>
                <a:ea typeface="Cambria"/>
              </a:rPr>
              <a:t> Government of Kerala</a:t>
            </a:r>
            <a:endParaRPr lang="en-US" dirty="0">
              <a:latin typeface="Cambria"/>
            </a:endParaRPr>
          </a:p>
          <a:p>
            <a:pPr marL="342900" indent="-190500">
              <a:lnSpc>
                <a:spcPct val="170000"/>
              </a:lnSpc>
              <a:spcBef>
                <a:spcPts val="0"/>
              </a:spcBef>
              <a:buNone/>
            </a:pPr>
            <a:r>
              <a:rPr lang="en-US" b="1" dirty="0">
                <a:latin typeface="Cambria"/>
                <a:ea typeface="Cambria"/>
              </a:rPr>
              <a:t>Category: </a:t>
            </a:r>
            <a:r>
              <a:rPr lang="en-US" dirty="0">
                <a:latin typeface="Cambria"/>
                <a:ea typeface="Cambria"/>
              </a:rPr>
              <a:t>Software </a:t>
            </a:r>
            <a:endParaRPr lang="en-US"/>
          </a:p>
          <a:p>
            <a:pPr marL="342900" indent="-190500">
              <a:lnSpc>
                <a:spcPct val="170000"/>
              </a:lnSpc>
              <a:spcBef>
                <a:spcPts val="0"/>
              </a:spcBef>
              <a:buNone/>
            </a:pPr>
            <a:r>
              <a:rPr lang="en-US" b="1" dirty="0">
                <a:latin typeface="Cambria"/>
                <a:ea typeface="Cambria"/>
              </a:rPr>
              <a:t>Problem Description:</a:t>
            </a:r>
            <a:r>
              <a:rPr lang="en-US" dirty="0">
                <a:latin typeface="Cambria"/>
                <a:ea typeface="Cambria"/>
              </a:rPr>
              <a:t> Ideate and implement a system to enhance the quality of education in rural areas.</a:t>
            </a:r>
            <a:endParaRPr lang="en-US" dirty="0"/>
          </a:p>
          <a:p>
            <a:pPr marL="342900" indent="-190500">
              <a:lnSpc>
                <a:spcPct val="170000"/>
              </a:lnSpc>
              <a:spcBef>
                <a:spcPts val="0"/>
              </a:spcBef>
              <a:buNone/>
            </a:pPr>
            <a:r>
              <a:rPr lang="en-US" dirty="0">
                <a:latin typeface="Cambria"/>
                <a:ea typeface="Cambria"/>
              </a:rPr>
              <a:t>The aim of the system should not only focus on increasing the literacy rate but also</a:t>
            </a:r>
            <a:endParaRPr lang="en-US" dirty="0">
              <a:latin typeface="Cambria"/>
              <a:ea typeface="Cambria"/>
            </a:endParaRPr>
          </a:p>
          <a:p>
            <a:pPr marL="342900" indent="-190500">
              <a:lnSpc>
                <a:spcPct val="170000"/>
              </a:lnSpc>
              <a:spcBef>
                <a:spcPts val="0"/>
              </a:spcBef>
              <a:buNone/>
            </a:pPr>
            <a:r>
              <a:rPr lang="en-US" dirty="0">
                <a:latin typeface="Cambria"/>
                <a:ea typeface="Cambria"/>
              </a:rPr>
              <a:t>should assist to elevate the communication skills and knowledge of the targeted</a:t>
            </a:r>
            <a:endParaRPr lang="en-US" dirty="0"/>
          </a:p>
          <a:p>
            <a:pPr marL="342900" indent="-190500">
              <a:lnSpc>
                <a:spcPct val="170000"/>
              </a:lnSpc>
              <a:spcBef>
                <a:spcPts val="0"/>
              </a:spcBef>
              <a:buNone/>
            </a:pPr>
            <a:r>
              <a:rPr lang="en-US" dirty="0">
                <a:latin typeface="Cambria"/>
                <a:ea typeface="Cambria"/>
              </a:rPr>
              <a:t>society.</a:t>
            </a:r>
            <a:endParaRPr lang="en-US" dirty="0"/>
          </a:p>
          <a:p>
            <a:pPr marL="342900" indent="-190500">
              <a:lnSpc>
                <a:spcPct val="170000"/>
              </a:lnSpc>
              <a:spcBef>
                <a:spcPts val="0"/>
              </a:spcBef>
              <a:buNone/>
            </a:pPr>
            <a:endParaRPr lang="en-US" dirty="0">
              <a:latin typeface="Cambria"/>
              <a:ea typeface="Cambria"/>
            </a:endParaRPr>
          </a:p>
          <a:p>
            <a:pPr marL="0" indent="0">
              <a:lnSpc>
                <a:spcPct val="170000"/>
              </a:lnSpc>
              <a:buNone/>
            </a:pPr>
            <a:endParaRPr lang="en-US" dirty="0"/>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a:p>
            <a:pPr marL="342900" indent="-190500" algn="just">
              <a:lnSpc>
                <a:spcPct val="170000"/>
              </a:lnSpc>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Objectives</a:t>
            </a:r>
            <a:endParaRPr lang="en-US"/>
          </a:p>
        </p:txBody>
      </p:sp>
      <p:sp>
        <p:nvSpPr>
          <p:cNvPr id="3" name="Text Placeholder 2"/>
          <p:cNvSpPr>
            <a:spLocks noGrp="1"/>
          </p:cNvSpPr>
          <p:nvPr>
            <p:ph type="body" idx="1"/>
          </p:nvPr>
        </p:nvSpPr>
        <p:spPr/>
        <p:txBody>
          <a:bodyPr/>
          <a:lstStyle/>
          <a:p>
            <a:pPr marL="285750" indent="-285750">
              <a:lnSpc>
                <a:spcPct val="150000"/>
              </a:lnSpc>
            </a:pPr>
            <a:r>
              <a:rPr lang="en-US" dirty="0">
                <a:latin typeface="Cambria"/>
              </a:rPr>
              <a:t>Provide study materials in local languages for rural students.</a:t>
            </a:r>
            <a:endParaRPr lang="en-US"/>
          </a:p>
          <a:p>
            <a:pPr marL="285750" indent="-285750">
              <a:lnSpc>
                <a:spcPct val="150000"/>
              </a:lnSpc>
            </a:pPr>
            <a:r>
              <a:rPr lang="en-US" dirty="0">
                <a:latin typeface="Cambria"/>
              </a:rPr>
              <a:t>Track each student’s learning progress and skills.</a:t>
            </a:r>
            <a:endParaRPr lang="en-US" dirty="0">
              <a:latin typeface="Cambria"/>
            </a:endParaRPr>
          </a:p>
          <a:p>
            <a:pPr marL="285750" indent="-285750">
              <a:lnSpc>
                <a:spcPct val="150000"/>
              </a:lnSpc>
            </a:pPr>
            <a:r>
              <a:rPr lang="en-US" dirty="0">
                <a:latin typeface="Cambria"/>
              </a:rPr>
              <a:t>Share information about scholarships, grants, and job opportunities.</a:t>
            </a:r>
            <a:endParaRPr lang="en-US" dirty="0">
              <a:latin typeface="Cambria"/>
            </a:endParaRPr>
          </a:p>
          <a:p>
            <a:pPr marL="76200" indent="0">
              <a:lnSpc>
                <a:spcPct val="150000"/>
              </a:lnSpc>
              <a:buNone/>
            </a:pPr>
            <a:endParaRPr lang="en-US" dirty="0">
              <a:latin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Background and Related work</a:t>
            </a:r>
            <a:endParaRPr lang="en-US"/>
          </a:p>
        </p:txBody>
      </p:sp>
      <p:sp>
        <p:nvSpPr>
          <p:cNvPr id="3" name="Text Placeholder 2"/>
          <p:cNvSpPr>
            <a:spLocks noGrp="1"/>
          </p:cNvSpPr>
          <p:nvPr>
            <p:ph type="body" idx="1"/>
          </p:nvPr>
        </p:nvSpPr>
        <p:spPr/>
        <p:txBody>
          <a:bodyPr>
            <a:normAutofit/>
          </a:bodyPr>
          <a:lstStyle/>
          <a:p>
            <a:pPr algn="just"/>
            <a:r>
              <a:rPr lang="en-US" sz="1700" dirty="0">
                <a:latin typeface="Cambria"/>
              </a:rPr>
              <a:t>In India, several government and non-government initiatives have tried to improve rural education. The </a:t>
            </a:r>
            <a:r>
              <a:rPr lang="en-US" sz="1700" b="1" dirty="0">
                <a:latin typeface="Cambria"/>
              </a:rPr>
              <a:t>Diksha</a:t>
            </a:r>
            <a:r>
              <a:rPr lang="en-US" sz="1700" dirty="0">
                <a:latin typeface="Cambria"/>
              </a:rPr>
              <a:t> platform offers free digital content for students and teachers, and </a:t>
            </a:r>
            <a:r>
              <a:rPr lang="en-US" sz="1700" b="1" dirty="0">
                <a:latin typeface="Cambria"/>
              </a:rPr>
              <a:t>SWAYAM</a:t>
            </a:r>
            <a:r>
              <a:rPr lang="en-US" sz="1700" dirty="0">
                <a:latin typeface="Cambria"/>
              </a:rPr>
              <a:t> provides online courses from top institutions. While these platforms are valuable, they depend on good internet connectivity and are often limited to a few languages, making them less effective in remote rural areas.</a:t>
            </a:r>
            <a:endParaRPr lang="en-US" sz="1700"/>
          </a:p>
          <a:p>
            <a:pPr algn="just"/>
            <a:r>
              <a:rPr lang="en-US" sz="1700" dirty="0">
                <a:latin typeface="Cambria"/>
                <a:ea typeface="Cambria"/>
              </a:rPr>
              <a:t>A national review by ITU indicates that even though digital tools and local content help, </a:t>
            </a:r>
            <a:r>
              <a:rPr lang="en-US" sz="1700" err="1">
                <a:latin typeface="Cambria"/>
                <a:ea typeface="Cambria"/>
              </a:rPr>
              <a:t>manyrural</a:t>
            </a:r>
            <a:r>
              <a:rPr lang="en-US" sz="1700" dirty="0">
                <a:latin typeface="Cambria"/>
                <a:ea typeface="Cambria"/>
              </a:rPr>
              <a:t> areas still struggle with connectivity, language barriers, and teacher training. </a:t>
            </a:r>
            <a:endParaRPr lang="en-US" sz="1700" dirty="0">
              <a:latin typeface="Cambria"/>
            </a:endParaRPr>
          </a:p>
          <a:p>
            <a:pPr algn="just"/>
            <a:r>
              <a:rPr lang="en-US" sz="1700" dirty="0">
                <a:latin typeface="Cambria"/>
              </a:rPr>
              <a:t>NGOs such as </a:t>
            </a:r>
            <a:r>
              <a:rPr lang="en-US" sz="1700" b="1" dirty="0">
                <a:latin typeface="Cambria"/>
              </a:rPr>
              <a:t>Pratham</a:t>
            </a:r>
            <a:r>
              <a:rPr lang="en-US" sz="1700" dirty="0">
                <a:latin typeface="Cambria"/>
              </a:rPr>
              <a:t> have worked to improve literacy rates through community-based programs, and </a:t>
            </a:r>
            <a:r>
              <a:rPr lang="en-US" sz="1700" b="1" dirty="0">
                <a:latin typeface="Cambria"/>
              </a:rPr>
              <a:t>Room to Read India</a:t>
            </a:r>
            <a:r>
              <a:rPr lang="en-US" sz="1700" dirty="0">
                <a:latin typeface="Cambria"/>
              </a:rPr>
              <a:t> has focused on enhancing reading skills and building school libraries. These efforts have made progress in increasing enrolment and basic literacy, but many rural students still struggle to access personalized learning, continuous mentorship, and career-related resources.</a:t>
            </a:r>
            <a:endParaRPr lang="en-US" sz="1700" dirty="0">
              <a:latin typeface="Cambria"/>
            </a:endParaRPr>
          </a:p>
          <a:p>
            <a:pPr algn="just"/>
            <a:r>
              <a:rPr lang="en-US" sz="1700" dirty="0">
                <a:latin typeface="Cambria"/>
              </a:rPr>
              <a:t>Government schemes like </a:t>
            </a:r>
            <a:r>
              <a:rPr lang="en-US" sz="1700" b="1" err="1">
                <a:latin typeface="Cambria"/>
              </a:rPr>
              <a:t>Samagra</a:t>
            </a:r>
            <a:r>
              <a:rPr lang="en-US" sz="1700" b="1" dirty="0">
                <a:latin typeface="Cambria"/>
              </a:rPr>
              <a:t> Shiksha Abhiyan</a:t>
            </a:r>
            <a:r>
              <a:rPr lang="en-US" sz="1700" dirty="0">
                <a:latin typeface="Cambria"/>
              </a:rPr>
              <a:t> and </a:t>
            </a:r>
            <a:r>
              <a:rPr lang="en-US" sz="1700" b="1" dirty="0">
                <a:latin typeface="Cambria"/>
              </a:rPr>
              <a:t>PM e-Vidya</a:t>
            </a:r>
            <a:r>
              <a:rPr lang="en-US" sz="1700" dirty="0">
                <a:latin typeface="Cambria"/>
              </a:rPr>
              <a:t> aim to strengthen school infrastructure and promote digital education, yet gaps remain in implementation, especially in areas with low internet speed, poor teacher training, and lack of local-language learning materials.</a:t>
            </a:r>
            <a:endParaRPr lang="en-US" sz="1700" dirty="0">
              <a:latin typeface="Cambria"/>
            </a:endParaRPr>
          </a:p>
          <a:p>
            <a:pPr algn="just"/>
            <a:r>
              <a:rPr lang="en-US" sz="1700" dirty="0">
                <a:latin typeface="Cambria"/>
              </a:rPr>
              <a:t>Our project builds on these efforts by combining multiple features like digital learning resources in local languages, mentorship, progress tracking, and access to scholarships and job opportunities into a single platform designed specifically for rural learners in India.</a:t>
            </a:r>
            <a:endParaRPr lang="en-US" sz="1700" dirty="0">
              <a:latin typeface="Cambria"/>
            </a:endParaRPr>
          </a:p>
          <a:p>
            <a:pPr algn="just"/>
            <a:endParaRPr lang="en-US" sz="1700" dirty="0">
              <a:latin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b="0" dirty="0">
              <a:solidFill>
                <a:srgbClr val="000000"/>
              </a:solidFill>
            </a:endParaRPr>
          </a:p>
        </p:txBody>
      </p:sp>
      <p:graphicFrame>
        <p:nvGraphicFramePr>
          <p:cNvPr id="5" name="Table 4"/>
          <p:cNvGraphicFramePr>
            <a:graphicFrameLocks noGrp="1"/>
          </p:cNvGraphicFramePr>
          <p:nvPr/>
        </p:nvGraphicFramePr>
        <p:xfrm>
          <a:off x="333375" y="993321"/>
          <a:ext cx="11520126" cy="4745765"/>
        </p:xfrm>
        <a:graphic>
          <a:graphicData uri="http://schemas.openxmlformats.org/drawingml/2006/table">
            <a:tbl>
              <a:tblPr bandRow="1"/>
              <a:tblGrid>
                <a:gridCol w="2326100"/>
                <a:gridCol w="884244"/>
                <a:gridCol w="2797721"/>
                <a:gridCol w="2820734"/>
                <a:gridCol w="2691327"/>
              </a:tblGrid>
              <a:tr h="427789">
                <a:tc>
                  <a:txBody>
                    <a:bodyPr/>
                    <a:lstStyle/>
                    <a:p>
                      <a:pPr lvl="0" algn="ctr" rtl="0">
                        <a:lnSpc>
                          <a:spcPts val="610"/>
                        </a:lnSpc>
                        <a:buNone/>
                      </a:pPr>
                      <a:endParaRPr lang="en-US" sz="1400" b="1" dirty="0">
                        <a:effectLst/>
                        <a:latin typeface="Cambria"/>
                      </a:endParaRPr>
                    </a:p>
                    <a:p>
                      <a:pPr lvl="0" algn="ctr">
                        <a:lnSpc>
                          <a:spcPts val="610"/>
                        </a:lnSpc>
                        <a:buNone/>
                      </a:pPr>
                      <a:r>
                        <a:rPr lang="en-US" sz="1400" b="1" dirty="0">
                          <a:effectLst/>
                          <a:latin typeface="Cambria"/>
                        </a:rPr>
                        <a:t>AUTHOR</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YEAR</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TITLE</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METHODOLOGY</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610"/>
                        </a:lnSpc>
                        <a:buNone/>
                      </a:pPr>
                      <a:endParaRPr lang="en-US" sz="1400" b="1" dirty="0">
                        <a:effectLst/>
                        <a:latin typeface="Cambria"/>
                      </a:endParaRPr>
                    </a:p>
                    <a:p>
                      <a:pPr lvl="0" algn="ctr">
                        <a:lnSpc>
                          <a:spcPts val="610"/>
                        </a:lnSpc>
                        <a:buNone/>
                      </a:pPr>
                      <a:r>
                        <a:rPr lang="en-US" sz="1400" b="1" dirty="0">
                          <a:effectLst/>
                          <a:latin typeface="Cambria"/>
                        </a:rPr>
                        <a:t>INFERENCE</a:t>
                      </a:r>
                      <a:endParaRPr lang="en-US" b="1">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815473">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Ojat </a:t>
                      </a:r>
                      <a:r>
                        <a:rPr lang="en-US" sz="1400" b="0" dirty="0" err="1">
                          <a:effectLst/>
                          <a:latin typeface="Cambria"/>
                        </a:rPr>
                        <a:t>Darojat</a:t>
                      </a:r>
                      <a:r>
                        <a:rPr lang="en-US" sz="1400" b="0" dirty="0">
                          <a:effectLst/>
                          <a:latin typeface="Cambria"/>
                        </a:rPr>
                        <a:t>, Ajat </a:t>
                      </a:r>
                      <a:r>
                        <a:rPr lang="en-US" sz="1400" b="0" dirty="0" err="1">
                          <a:effectLst/>
                          <a:latin typeface="Cambria"/>
                        </a:rPr>
                        <a:t>Sudrajat</a:t>
                      </a:r>
                      <a:r>
                        <a:rPr lang="en-US" sz="1400" b="0" dirty="0">
                          <a:effectLst/>
                          <a:latin typeface="Cambria"/>
                        </a:rPr>
                        <a:t>, </a:t>
                      </a:r>
                      <a:r>
                        <a:rPr lang="en-US" sz="1400" b="0" dirty="0" err="1">
                          <a:effectLst/>
                          <a:latin typeface="Cambria"/>
                        </a:rPr>
                        <a:t>Darsiharjo</a:t>
                      </a:r>
                      <a:r>
                        <a:rPr lang="en-US" sz="1400" b="0" dirty="0">
                          <a:effectLst/>
                          <a:latin typeface="Cambria"/>
                        </a:rPr>
                        <a:t>, Lisa Dwi </a:t>
                      </a:r>
                      <a:r>
                        <a:rPr lang="en-US" sz="1400" b="0" dirty="0" err="1">
                          <a:effectLst/>
                          <a:latin typeface="Cambria"/>
                        </a:rPr>
                        <a:t>Ningtyas</a:t>
                      </a:r>
                      <a:r>
                        <a:rPr lang="en-US" sz="1400" b="0" dirty="0">
                          <a:effectLst/>
                          <a:latin typeface="Cambria"/>
                        </a:rPr>
                        <a:t>, Cecep </a:t>
                      </a:r>
                      <a:r>
                        <a:rPr lang="en-US" sz="1400" b="0" dirty="0" err="1">
                          <a:effectLst/>
                          <a:latin typeface="Cambria"/>
                        </a:rPr>
                        <a:t>Kustandi</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2025</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endParaRPr lang="en-US" sz="1400" b="0" dirty="0">
                        <a:effectLst/>
                        <a:latin typeface="Cambria"/>
                      </a:endParaRPr>
                    </a:p>
                    <a:p>
                      <a:pPr lvl="0">
                        <a:lnSpc>
                          <a:spcPts val="535"/>
                        </a:lnSpc>
                        <a:buNone/>
                      </a:pPr>
                      <a:r>
                        <a:rPr lang="en-US" sz="1400" b="0" dirty="0">
                          <a:effectLst/>
                          <a:latin typeface="Cambria"/>
                        </a:rPr>
                        <a:t>Learning Media Use in Rural</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Mixed-method, GWT ANOVA</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Flipped classroom w/ downloads best for low connectivity.</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895683">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Ayesha Zulfiqar, Muhammad Bilal, Muhammad Nadeem Iqbal</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Factors Affecting Rural Schools</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535"/>
                        </a:lnSpc>
                        <a:buNone/>
                      </a:pPr>
                      <a:endParaRPr lang="en-US" sz="1400" b="0" dirty="0">
                        <a:effectLst/>
                        <a:latin typeface="Cambria"/>
                      </a:endParaRPr>
                    </a:p>
                    <a:p>
                      <a:pPr lvl="0">
                        <a:lnSpc>
                          <a:spcPts val="535"/>
                        </a:lnSpc>
                        <a:buNone/>
                      </a:pPr>
                      <a:r>
                        <a:rPr lang="en-US" sz="1400" b="0" dirty="0">
                          <a:effectLst/>
                          <a:latin typeface="Cambria"/>
                        </a:rPr>
                        <a:t>Quantitative survey</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Facilities, teaching quality, poverty strongly impact outcomes.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8178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Chaoyang Wang</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Rural Edu. Reform</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Policy &amp; case analysis</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Focus: student autonomy, teacher training, infrastructure.</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8178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Radhika Kapur</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Education in Rural India</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Qualitative descriptive</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Fix infra, recruit teachers, improve methods/resources.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1243260">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K.S. Suryanarayana, V.S. Prasad Kandi, G. Pavani, </a:t>
                      </a:r>
                      <a:r>
                        <a:rPr lang="en-US" sz="1400" b="0" dirty="0" err="1">
                          <a:effectLst/>
                          <a:latin typeface="Cambria"/>
                        </a:rPr>
                        <a:t>Akuthota</a:t>
                      </a:r>
                      <a:r>
                        <a:rPr lang="en-US" sz="1400" b="0" dirty="0">
                          <a:effectLst/>
                          <a:latin typeface="Cambria"/>
                        </a:rPr>
                        <a:t> Sankar Rao, Sandeep Rout, T. Siva Rama Krishna</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2024</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AI-Enhanced Learning </a:t>
                      </a:r>
                      <a:r>
                        <a:rPr lang="en-US" sz="1400" b="0" dirty="0" err="1">
                          <a:effectLst/>
                          <a:latin typeface="Cambria"/>
                        </a:rPr>
                        <a:t>Mgmt</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610"/>
                        </a:lnSpc>
                        <a:buNone/>
                      </a:pPr>
                      <a:endParaRPr lang="en-US" sz="1400" b="0" dirty="0">
                        <a:effectLst/>
                        <a:latin typeface="Cambria"/>
                      </a:endParaRPr>
                    </a:p>
                    <a:p>
                      <a:pPr lvl="0">
                        <a:lnSpc>
                          <a:spcPts val="610"/>
                        </a:lnSpc>
                        <a:buNone/>
                      </a:pPr>
                      <a:r>
                        <a:rPr lang="en-US" sz="1400" b="0" dirty="0">
                          <a:effectLst/>
                          <a:latin typeface="Cambria"/>
                        </a:rPr>
                        <a:t>AI system design</a:t>
                      </a:r>
                      <a:endParaRPr lang="en-US" b="0" dirty="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endParaRPr lang="en-US" sz="1400" b="0" dirty="0">
                        <a:effectLst/>
                        <a:latin typeface="Cambria"/>
                      </a:endParaRPr>
                    </a:p>
                    <a:p>
                      <a:pPr lvl="0">
                        <a:lnSpc>
                          <a:spcPts val="1200"/>
                        </a:lnSpc>
                        <a:buNone/>
                      </a:pPr>
                      <a:r>
                        <a:rPr lang="en-US" sz="1400" b="0" dirty="0">
                          <a:effectLst/>
                          <a:latin typeface="Cambria"/>
                        </a:rPr>
                        <a:t>Personalized learning, analytics aid sustainability; privacy concerns.</a:t>
                      </a:r>
                      <a:endParaRPr lang="en-US" b="0">
                        <a:effectLst/>
                        <a:latin typeface="Cambria"/>
                      </a:endParaRPr>
                    </a:p>
                  </a:txBody>
                  <a:tcPr marL="33061" marR="33061" marT="16526" marB="1652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dirty="0"/>
          </a:p>
        </p:txBody>
      </p:sp>
      <p:graphicFrame>
        <p:nvGraphicFramePr>
          <p:cNvPr id="5" name="Table 4"/>
          <p:cNvGraphicFramePr>
            <a:graphicFrameLocks noGrp="1"/>
          </p:cNvGraphicFramePr>
          <p:nvPr/>
        </p:nvGraphicFramePr>
        <p:xfrm>
          <a:off x="403193" y="1089532"/>
          <a:ext cx="11492560" cy="4095085"/>
        </p:xfrm>
        <a:graphic>
          <a:graphicData uri="http://schemas.openxmlformats.org/drawingml/2006/table">
            <a:tbl>
              <a:tblPr bandRow="1"/>
              <a:tblGrid>
                <a:gridCol w="2298516"/>
                <a:gridCol w="884253"/>
                <a:gridCol w="2797721"/>
                <a:gridCol w="3213554"/>
                <a:gridCol w="2298516"/>
              </a:tblGrid>
              <a:tr h="351985">
                <a:tc>
                  <a:txBody>
                    <a:bodyPr/>
                    <a:lstStyle/>
                    <a:p>
                      <a:pPr algn="ctr" rtl="0" fontAlgn="base">
                        <a:lnSpc>
                          <a:spcPts val="1200"/>
                        </a:lnSpc>
                        <a:buNone/>
                      </a:pPr>
                      <a:r>
                        <a:rPr lang="en-US" sz="1400" b="1" i="0" u="none" strike="noStrike" dirty="0">
                          <a:solidFill>
                            <a:srgbClr val="000000"/>
                          </a:solidFill>
                          <a:effectLst/>
                          <a:latin typeface="Cambria"/>
                        </a:rPr>
                        <a:t>AUTHOR</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YEAR</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TITLE</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METHODOLOGY</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i="0" u="none" strike="noStrike" dirty="0">
                          <a:solidFill>
                            <a:srgbClr val="000000"/>
                          </a:solidFill>
                          <a:effectLst/>
                          <a:latin typeface="Cambria"/>
                        </a:rPr>
                        <a:t>INFERENCE</a:t>
                      </a:r>
                      <a:endParaRPr lang="en-US" b="1"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970995">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Yang Yu, Desmond Appiah, Bernard Zulu, and Kofi Asamoah </a:t>
                      </a:r>
                      <a:r>
                        <a:rPr lang="en-US" sz="1100" b="0" i="0" u="none" strike="noStrike" noProof="0" err="1">
                          <a:solidFill>
                            <a:srgbClr val="000000"/>
                          </a:solidFill>
                          <a:effectLst/>
                          <a:latin typeface="Cambria"/>
                        </a:rPr>
                        <a:t>AduPoku</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Integrating Rural Dev., Edu. &amp; </a:t>
                      </a:r>
                      <a:r>
                        <a:rPr lang="en-US" sz="1200" b="0" i="0" u="none" strike="noStrike" noProof="0" err="1">
                          <a:solidFill>
                            <a:srgbClr val="000000"/>
                          </a:solidFill>
                          <a:effectLst/>
                          <a:latin typeface="Cambria"/>
                        </a:rPr>
                        <a:t>Mgmt</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Literature review</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Community participation + tech → sustainable rural development.</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55421">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Xining </a:t>
                      </a:r>
                      <a:r>
                        <a:rPr lang="en-US" sz="1100" b="0" i="0" u="none" strike="noStrike" noProof="0" err="1">
                          <a:solidFill>
                            <a:srgbClr val="000000"/>
                          </a:solidFill>
                          <a:effectLst/>
                          <a:latin typeface="Cambria"/>
                        </a:rPr>
                        <a:t>Wang,Gareth</a:t>
                      </a:r>
                      <a:r>
                        <a:rPr lang="en-US" sz="1100" b="0" i="0" u="none" strike="noStrike" noProof="0" dirty="0">
                          <a:solidFill>
                            <a:srgbClr val="000000"/>
                          </a:solidFill>
                          <a:effectLst/>
                          <a:latin typeface="Cambria"/>
                        </a:rPr>
                        <a:t> W. </a:t>
                      </a:r>
                      <a:r>
                        <a:rPr lang="en-US" sz="1100" b="0" i="0" u="none" strike="noStrike" noProof="0" err="1">
                          <a:solidFill>
                            <a:srgbClr val="000000"/>
                          </a:solidFill>
                          <a:effectLst/>
                          <a:latin typeface="Cambria"/>
                        </a:rPr>
                        <a:t>Young,Muhammad</a:t>
                      </a:r>
                      <a:r>
                        <a:rPr lang="en-US" sz="1100" b="0" i="0" u="none" strike="noStrike" noProof="0" dirty="0">
                          <a:solidFill>
                            <a:srgbClr val="000000"/>
                          </a:solidFill>
                          <a:effectLst/>
                          <a:latin typeface="Cambria"/>
                        </a:rPr>
                        <a:t> Zahid </a:t>
                      </a:r>
                      <a:r>
                        <a:rPr lang="en-US" sz="1100" b="0" i="0" u="none" strike="noStrike" noProof="0" err="1">
                          <a:solidFill>
                            <a:srgbClr val="000000"/>
                          </a:solidFill>
                          <a:effectLst/>
                          <a:latin typeface="Cambria"/>
                        </a:rPr>
                        <a:t>Iqbal,Conor</a:t>
                      </a:r>
                      <a:r>
                        <a:rPr lang="en-US" sz="1100" b="0" i="0" u="none" strike="noStrike" noProof="0" dirty="0">
                          <a:solidFill>
                            <a:srgbClr val="000000"/>
                          </a:solidFill>
                          <a:effectLst/>
                          <a:latin typeface="Cambria"/>
                        </a:rPr>
                        <a:t> Mc Guckin</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XR in Rural Education</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Workshop + focus groups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050"/>
                        </a:lnSpc>
                        <a:buNone/>
                      </a:pPr>
                      <a:r>
                        <a:rPr lang="en-US" sz="1200" b="0" i="0" u="none" strike="noStrike" noProof="0" dirty="0">
                          <a:solidFill>
                            <a:srgbClr val="000000"/>
                          </a:solidFill>
                          <a:effectLst/>
                          <a:latin typeface="Cambria"/>
                        </a:rPr>
                        <a:t>XR seen as transformative for vocational &amp; contextual learning.</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46184">
                <a:tc>
                  <a:txBody>
                    <a:bodyPr/>
                    <a:lstStyle/>
                    <a:p>
                      <a:pPr lvl="0" algn="l">
                        <a:lnSpc>
                          <a:spcPct val="100000"/>
                        </a:lnSpc>
                        <a:spcBef>
                          <a:spcPts val="0"/>
                        </a:spcBef>
                        <a:spcAft>
                          <a:spcPts val="0"/>
                        </a:spcAft>
                        <a:buNone/>
                      </a:pPr>
                      <a:r>
                        <a:rPr lang="en-US" sz="1200" b="0" i="0" u="none" strike="noStrike" noProof="0" dirty="0">
                          <a:solidFill>
                            <a:srgbClr val="000000"/>
                          </a:solidFill>
                          <a:effectLst/>
                          <a:latin typeface="Cambria"/>
                        </a:rPr>
                        <a:t>Dr. Prem Das Maheshwari</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Digital Intervention NEP 2020</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Policy/feature analysis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Digital infra + local content → bridge rural divide; but poor connectivity persists.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546184">
                <a:tc>
                  <a:txBody>
                    <a:bodyPr/>
                    <a:lstStyle/>
                    <a:p>
                      <a:pPr lvl="0" algn="l">
                        <a:lnSpc>
                          <a:spcPct val="100000"/>
                        </a:lnSpc>
                        <a:spcBef>
                          <a:spcPts val="0"/>
                        </a:spcBef>
                        <a:spcAft>
                          <a:spcPts val="0"/>
                        </a:spcAft>
                        <a:buNone/>
                      </a:pPr>
                      <a:r>
                        <a:rPr lang="en-US" sz="1200" b="0" i="0" u="none" strike="noStrike" noProof="0" dirty="0">
                          <a:solidFill>
                            <a:srgbClr val="000000"/>
                          </a:solidFill>
                          <a:effectLst/>
                          <a:latin typeface="Cambria"/>
                        </a:rPr>
                        <a:t>Muhammad Tahir Khan Farooqi ,Ishaq Amanat ,Muhammad Awan </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AI Ethics in Education</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Systematic review</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AI → privacy risks, teacher resistance; need training &amp; safeguards.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764657">
                <a:tc>
                  <a:txBody>
                    <a:bodyPr/>
                    <a:lstStyle/>
                    <a:p>
                      <a:pPr lvl="0" algn="l">
                        <a:lnSpc>
                          <a:spcPct val="100000"/>
                        </a:lnSpc>
                        <a:spcBef>
                          <a:spcPts val="0"/>
                        </a:spcBef>
                        <a:spcAft>
                          <a:spcPts val="0"/>
                        </a:spcAft>
                        <a:buNone/>
                      </a:pPr>
                      <a:r>
                        <a:rPr lang="en-US" sz="1100" b="0" i="0" u="none" strike="noStrike" noProof="0" dirty="0">
                          <a:solidFill>
                            <a:srgbClr val="000000"/>
                          </a:solidFill>
                          <a:effectLst/>
                          <a:latin typeface="Cambria"/>
                        </a:rPr>
                        <a:t>Ying Lin, Northern Arizona</a:t>
                      </a:r>
                      <a:endParaRPr lang="en-US">
                        <a:latin typeface="Cambria"/>
                      </a:endParaRPr>
                    </a:p>
                    <a:p>
                      <a:pPr lvl="0" algn="l">
                        <a:lnSpc>
                          <a:spcPts val="1050"/>
                        </a:lnSpc>
                        <a:buNone/>
                      </a:pPr>
                      <a:endParaRPr lang="en-US" sz="1200" b="1" i="0" u="none" strike="noStrike" dirty="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200"/>
                        </a:lnSpc>
                        <a:buNone/>
                      </a:pPr>
                      <a:r>
                        <a:rPr lang="en-US" sz="1400" b="0" i="0" u="none" strike="noStrike" dirty="0">
                          <a:solidFill>
                            <a:srgbClr val="000000"/>
                          </a:solidFill>
                          <a:effectLst/>
                          <a:latin typeface="Cambria"/>
                        </a:rPr>
                        <a:t>2024</a:t>
                      </a:r>
                      <a:endParaRPr lang="en-US" b="0" i="0">
                        <a:solidFill>
                          <a:srgbClr val="000000"/>
                        </a:solidFill>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Computer Networks in Distance Edu.</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Conceptual analysis</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l">
                        <a:lnSpc>
                          <a:spcPts val="1200"/>
                        </a:lnSpc>
                        <a:buNone/>
                      </a:pPr>
                      <a:r>
                        <a:rPr lang="en-US" sz="1400" b="0" i="0" u="none" strike="noStrike" noProof="0" dirty="0">
                          <a:solidFill>
                            <a:srgbClr val="000000"/>
                          </a:solidFill>
                          <a:effectLst/>
                          <a:latin typeface="Cambria"/>
                        </a:rPr>
                        <a:t>Strong network infra vital for high-quality distance learning.</a:t>
                      </a:r>
                      <a:endParaRPr lang="en-US">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Related work(contd...)</a:t>
            </a:r>
            <a:endParaRPr lang="en-US" dirty="0"/>
          </a:p>
        </p:txBody>
      </p:sp>
      <p:graphicFrame>
        <p:nvGraphicFramePr>
          <p:cNvPr id="5" name="Table 4"/>
          <p:cNvGraphicFramePr>
            <a:graphicFrameLocks noGrp="1"/>
          </p:cNvGraphicFramePr>
          <p:nvPr/>
        </p:nvGraphicFramePr>
        <p:xfrm>
          <a:off x="349720" y="1146348"/>
          <a:ext cx="11492560" cy="4593737"/>
        </p:xfrm>
        <a:graphic>
          <a:graphicData uri="http://schemas.openxmlformats.org/drawingml/2006/table">
            <a:tbl>
              <a:tblPr bandRow="1"/>
              <a:tblGrid>
                <a:gridCol w="2298516"/>
                <a:gridCol w="884253"/>
                <a:gridCol w="2797721"/>
                <a:gridCol w="3213554"/>
                <a:gridCol w="2298516"/>
              </a:tblGrid>
              <a:tr h="440937">
                <a:tc>
                  <a:txBody>
                    <a:bodyPr/>
                    <a:lstStyle/>
                    <a:p>
                      <a:pPr lvl="0" algn="ctr" rtl="0">
                        <a:lnSpc>
                          <a:spcPts val="1200"/>
                        </a:lnSpc>
                        <a:buNone/>
                      </a:pPr>
                      <a:r>
                        <a:rPr lang="en-US" sz="1400" b="1" dirty="0">
                          <a:effectLst/>
                          <a:latin typeface="Cambria"/>
                        </a:rPr>
                        <a:t>AUTHOR</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YEAR</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TITLE</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METHODOLOGY</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00"/>
                        </a:lnSpc>
                        <a:buNone/>
                      </a:pPr>
                      <a:r>
                        <a:rPr lang="en-US" sz="1400" b="1" dirty="0">
                          <a:effectLst/>
                          <a:latin typeface="Cambria"/>
                        </a:rPr>
                        <a:t>INFERENCE</a:t>
                      </a:r>
                      <a:endParaRPr lang="en-US" b="1">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1200327">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Yuling Sun, </a:t>
                      </a:r>
                      <a:r>
                        <a:rPr lang="en-US" sz="1000" b="0" i="0" u="none" strike="noStrike" noProof="0" err="1">
                          <a:solidFill>
                            <a:srgbClr val="000000"/>
                          </a:solidFill>
                          <a:effectLst/>
                          <a:latin typeface="Cambria"/>
                        </a:rPr>
                        <a:t>Xiuqi</a:t>
                      </a:r>
                      <a:r>
                        <a:rPr lang="en-US" sz="1000" b="0" i="0" u="none" strike="noStrike" noProof="0" dirty="0">
                          <a:solidFill>
                            <a:srgbClr val="000000"/>
                          </a:solidFill>
                          <a:effectLst/>
                          <a:latin typeface="Cambria"/>
                        </a:rPr>
                        <a:t> Zhu, </a:t>
                      </a:r>
                      <a:r>
                        <a:rPr lang="en-US" sz="1000" b="0" i="0" u="none" strike="noStrike" noProof="0" err="1">
                          <a:solidFill>
                            <a:srgbClr val="000000"/>
                          </a:solidFill>
                          <a:effectLst/>
                          <a:latin typeface="Cambria"/>
                        </a:rPr>
                        <a:t>Xiaomu</a:t>
                      </a:r>
                      <a:r>
                        <a:rPr lang="en-US" sz="1000" b="0" i="0" u="none" strike="noStrike" noProof="0" dirty="0">
                          <a:solidFill>
                            <a:srgbClr val="000000"/>
                          </a:solidFill>
                          <a:effectLst/>
                          <a:latin typeface="Cambria"/>
                        </a:rPr>
                        <a:t> Zhou, </a:t>
                      </a:r>
                      <a:r>
                        <a:rPr lang="en-US" sz="1000" b="0" i="0" u="none" strike="noStrike" noProof="0" err="1">
                          <a:solidFill>
                            <a:srgbClr val="000000"/>
                          </a:solidFill>
                          <a:effectLst/>
                          <a:latin typeface="Cambria"/>
                        </a:rPr>
                        <a:t>Bingsheng</a:t>
                      </a:r>
                      <a:r>
                        <a:rPr lang="en-US" sz="1000" b="0" i="0" u="none" strike="noStrike" noProof="0" dirty="0">
                          <a:solidFill>
                            <a:srgbClr val="000000"/>
                          </a:solidFill>
                          <a:effectLst/>
                          <a:latin typeface="Cambria"/>
                        </a:rPr>
                        <a:t> Yao, Kai Zhang, </a:t>
                      </a:r>
                      <a:r>
                        <a:rPr lang="en-US" sz="1000" b="0" i="0" u="none" strike="noStrike" noProof="0" err="1">
                          <a:solidFill>
                            <a:srgbClr val="000000"/>
                          </a:solidFill>
                          <a:effectLst/>
                          <a:latin typeface="Cambria"/>
                        </a:rPr>
                        <a:t>Dakuo</a:t>
                      </a:r>
                      <a:r>
                        <a:rPr lang="en-US" sz="1000" b="0" i="0" u="none" strike="noStrike" noProof="0" dirty="0">
                          <a:solidFill>
                            <a:srgbClr val="000000"/>
                          </a:solidFill>
                          <a:effectLst/>
                          <a:latin typeface="Cambria"/>
                        </a:rPr>
                        <a:t> Wang, </a:t>
                      </a:r>
                      <a:r>
                        <a:rPr lang="en-US" sz="1000" b="0" i="0" u="none" strike="noStrike" noProof="0" err="1">
                          <a:solidFill>
                            <a:srgbClr val="000000"/>
                          </a:solidFill>
                          <a:effectLst/>
                          <a:latin typeface="Cambria"/>
                        </a:rPr>
                        <a:t>Jiaju</a:t>
                      </a:r>
                      <a:r>
                        <a:rPr lang="en-US" sz="1000" b="0" i="0" u="none" strike="noStrike" noProof="0" dirty="0">
                          <a:solidFill>
                            <a:srgbClr val="000000"/>
                          </a:solidFill>
                          <a:effectLst/>
                          <a:latin typeface="Cambria"/>
                        </a:rPr>
                        <a:t> Chen, Liang He</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2025</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ICT in Rural China</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Qualitative interviews &amp; obs.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Remote classes work if local teachers contextualize content.</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00164">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Salam Michael Singh, </a:t>
                      </a:r>
                      <a:r>
                        <a:rPr lang="en-US" sz="1000" b="0" i="0" u="none" strike="noStrike" noProof="0" dirty="0" err="1">
                          <a:solidFill>
                            <a:srgbClr val="000000"/>
                          </a:solidFill>
                          <a:effectLst/>
                          <a:latin typeface="Cambria"/>
                        </a:rPr>
                        <a:t>Shubhmoy</a:t>
                      </a:r>
                      <a:r>
                        <a:rPr lang="en-US" sz="1000" b="0" i="0" u="none" strike="noStrike" noProof="0" dirty="0">
                          <a:solidFill>
                            <a:srgbClr val="000000"/>
                          </a:solidFill>
                          <a:effectLst/>
                          <a:latin typeface="Cambria"/>
                        </a:rPr>
                        <a:t> Kumar Garg, Amitesh Misra, </a:t>
                      </a:r>
                      <a:r>
                        <a:rPr lang="en-US" sz="1000" b="0" i="0" u="none" strike="noStrike" noProof="0" dirty="0" err="1">
                          <a:solidFill>
                            <a:srgbClr val="000000"/>
                          </a:solidFill>
                          <a:effectLst/>
                          <a:latin typeface="Cambria"/>
                        </a:rPr>
                        <a:t>Aaditeshwar</a:t>
                      </a:r>
                      <a:r>
                        <a:rPr lang="en-US" sz="1000" b="0" i="0" u="none" strike="noStrike" noProof="0" dirty="0">
                          <a:solidFill>
                            <a:srgbClr val="000000"/>
                          </a:solidFill>
                          <a:effectLst/>
                          <a:latin typeface="Cambria"/>
                        </a:rPr>
                        <a:t> Seth, Tanmoy Chakraborty</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SUKHSANDESH AI Sexual Edu.</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Platform proposal</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050"/>
                        </a:lnSpc>
                        <a:buNone/>
                      </a:pPr>
                      <a:r>
                        <a:rPr lang="en-US" sz="1200" b="0" i="0" u="none" strike="noStrike" noProof="0" dirty="0">
                          <a:solidFill>
                            <a:srgbClr val="000000"/>
                          </a:solidFill>
                          <a:effectLst/>
                          <a:latin typeface="Cambria"/>
                        </a:rPr>
                        <a:t>AI avatars break stigma; need safety &amp; language localization.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73653">
                <a:tc>
                  <a:txBody>
                    <a:bodyPr/>
                    <a:lstStyle/>
                    <a:p>
                      <a:pPr lvl="0" algn="l">
                        <a:lnSpc>
                          <a:spcPct val="100000"/>
                        </a:lnSpc>
                        <a:spcBef>
                          <a:spcPts val="0"/>
                        </a:spcBef>
                        <a:spcAft>
                          <a:spcPts val="0"/>
                        </a:spcAft>
                        <a:buNone/>
                      </a:pPr>
                      <a:r>
                        <a:rPr lang="en-US" sz="1000" b="0" i="0" u="none" strike="noStrike" noProof="0" dirty="0" err="1">
                          <a:solidFill>
                            <a:srgbClr val="000000"/>
                          </a:solidFill>
                          <a:effectLst/>
                          <a:latin typeface="Cambria"/>
                        </a:rPr>
                        <a:t>Te</a:t>
                      </a:r>
                      <a:r>
                        <a:rPr lang="en-US" sz="1000" b="0" i="0" u="none" strike="noStrike" noProof="0" dirty="0">
                          <a:solidFill>
                            <a:srgbClr val="000000"/>
                          </a:solidFill>
                          <a:effectLst/>
                          <a:latin typeface="Cambria"/>
                        </a:rPr>
                        <a:t>-Hsin Hsieh &amp; </a:t>
                      </a:r>
                      <a:r>
                        <a:rPr lang="en-US" sz="1000" b="0" i="0" u="none" strike="noStrike" noProof="0" dirty="0" err="1">
                          <a:solidFill>
                            <a:srgbClr val="000000"/>
                          </a:solidFill>
                          <a:effectLst/>
                          <a:latin typeface="Cambria"/>
                        </a:rPr>
                        <a:t>Xueye</a:t>
                      </a:r>
                      <a:r>
                        <a:rPr lang="en-US" sz="1000" b="0" i="0" u="none" strike="noStrike" noProof="0" dirty="0">
                          <a:solidFill>
                            <a:srgbClr val="000000"/>
                          </a:solidFill>
                          <a:effectLst/>
                          <a:latin typeface="Cambria"/>
                        </a:rPr>
                        <a:t> Lai</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ML for Rural Talent Dev.</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RF &amp; </a:t>
                      </a:r>
                      <a:r>
                        <a:rPr lang="en-US" sz="1400" b="0" i="0" u="none" strike="noStrike" noProof="0" dirty="0" err="1">
                          <a:solidFill>
                            <a:srgbClr val="000000"/>
                          </a:solidFill>
                          <a:effectLst/>
                          <a:latin typeface="Cambria"/>
                        </a:rPr>
                        <a:t>XGBoost</a:t>
                      </a:r>
                      <a:r>
                        <a:rPr lang="en-US" sz="1400" b="0" i="0" u="none" strike="noStrike" noProof="0" dirty="0">
                          <a:solidFill>
                            <a:srgbClr val="000000"/>
                          </a:solidFill>
                          <a:effectLst/>
                          <a:latin typeface="Cambria"/>
                        </a:rPr>
                        <a:t> analysis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ML predicts adaptability; supports scalable training.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673653">
                <a:tc>
                  <a:txBody>
                    <a:bodyPr/>
                    <a:lstStyle/>
                    <a:p>
                      <a:pPr lvl="0" algn="l">
                        <a:lnSpc>
                          <a:spcPct val="100000"/>
                        </a:lnSpc>
                        <a:spcBef>
                          <a:spcPts val="0"/>
                        </a:spcBef>
                        <a:spcAft>
                          <a:spcPts val="0"/>
                        </a:spcAft>
                        <a:buNone/>
                      </a:pPr>
                      <a:r>
                        <a:rPr lang="en-US" sz="1000" b="0" i="0" u="none" strike="noStrike" noProof="0" dirty="0">
                          <a:solidFill>
                            <a:srgbClr val="000000"/>
                          </a:solidFill>
                          <a:effectLst/>
                          <a:latin typeface="Cambria"/>
                        </a:rPr>
                        <a:t>Multiple authors</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Gen-AI in Rural Teaching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Analytical review</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Gen-AI personalized learning but infra gaps hinder adoption.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r h="943115">
                <a:tc>
                  <a:txBody>
                    <a:bodyPr/>
                    <a:lstStyle/>
                    <a:p>
                      <a:pPr rtl="0" fontAlgn="base">
                        <a:lnSpc>
                          <a:spcPts val="1050"/>
                        </a:lnSpc>
                        <a:buNone/>
                      </a:pPr>
                      <a:r>
                        <a:rPr lang="en-US" sz="1200" b="1" dirty="0">
                          <a:effectLst/>
                          <a:latin typeface="Cambria"/>
                        </a:rPr>
                        <a:t> </a:t>
                      </a:r>
                      <a:r>
                        <a:rPr lang="en-US" sz="1000" b="0" i="0" u="none" strike="noStrike" noProof="0" dirty="0">
                          <a:solidFill>
                            <a:srgbClr val="000000"/>
                          </a:solidFill>
                          <a:effectLst/>
                          <a:latin typeface="Cambria"/>
                        </a:rPr>
                        <a:t>Arihant Bardia &amp; Aayush Agrawal</a:t>
                      </a:r>
                      <a:endParaRPr lang="en-US" dirty="0">
                        <a:latin typeface="Cambria"/>
                      </a:endParaRPr>
                    </a:p>
                    <a:p>
                      <a:pPr lvl="0">
                        <a:lnSpc>
                          <a:spcPts val="1050"/>
                        </a:lnSpc>
                        <a:buNone/>
                      </a:pPr>
                      <a:endParaRPr lang="en-US" sz="1200" b="1"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400" dirty="0">
                          <a:effectLst/>
                          <a:latin typeface="Cambria"/>
                        </a:rPr>
                        <a:t>2024</a:t>
                      </a:r>
                      <a:endParaRPr lang="en-US" dirty="0">
                        <a:effectLst/>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err="1">
                          <a:solidFill>
                            <a:srgbClr val="000000"/>
                          </a:solidFill>
                          <a:effectLst/>
                          <a:latin typeface="Cambria"/>
                        </a:rPr>
                        <a:t>MindCraft</a:t>
                      </a:r>
                      <a:r>
                        <a:rPr lang="en-US" sz="1400" b="0" i="0" u="none" strike="noStrike" noProof="0" dirty="0">
                          <a:solidFill>
                            <a:srgbClr val="000000"/>
                          </a:solidFill>
                          <a:effectLst/>
                          <a:latin typeface="Cambria"/>
                        </a:rPr>
                        <a:t> AI Learning</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System design</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1200"/>
                        </a:lnSpc>
                        <a:buNone/>
                      </a:pPr>
                      <a:r>
                        <a:rPr lang="en-US" sz="1400" b="0" i="0" u="none" strike="noStrike" noProof="0" dirty="0">
                          <a:solidFill>
                            <a:srgbClr val="000000"/>
                          </a:solidFill>
                          <a:effectLst/>
                          <a:latin typeface="Cambria"/>
                        </a:rPr>
                        <a:t>AI personalization + mentorship + low bandwidth support helps rural learners.</a:t>
                      </a:r>
                      <a:endParaRPr lang="en-US" dirty="0">
                        <a:latin typeface="Cambria"/>
                      </a:endParaRPr>
                    </a:p>
                  </a:txBody>
                  <a:tcPr marL="65151" marR="65151" marT="32576" marB="32576">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Diagram</a:t>
            </a:r>
            <a:endParaRPr lang="en-US" dirty="0"/>
          </a:p>
        </p:txBody>
      </p:sp>
      <p:pic>
        <p:nvPicPr>
          <p:cNvPr id="4" name="Picture 3" descr="A diagram of a system&#10;&#10;AI-generated content may be incorrect."/>
          <p:cNvPicPr>
            <a:picLocks noChangeAspect="1"/>
          </p:cNvPicPr>
          <p:nvPr/>
        </p:nvPicPr>
        <p:blipFill>
          <a:blip r:embed="rId1"/>
          <a:srcRect l="29715" t="16691" r="29715" b="16131"/>
          <a:stretch>
            <a:fillRect/>
          </a:stretch>
        </p:blipFill>
        <p:spPr>
          <a:xfrm>
            <a:off x="3489158" y="1196474"/>
            <a:ext cx="5220372" cy="48610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US" dirty="0"/>
          </a:p>
        </p:txBody>
      </p:sp>
      <p:sp>
        <p:nvSpPr>
          <p:cNvPr id="3" name="Text Placeholder 2"/>
          <p:cNvSpPr>
            <a:spLocks noGrp="1"/>
          </p:cNvSpPr>
          <p:nvPr>
            <p:ph type="body" idx="1"/>
          </p:nvPr>
        </p:nvSpPr>
        <p:spPr/>
        <p:txBody>
          <a:bodyPr>
            <a:normAutofit fontScale="55000" lnSpcReduction="20000"/>
          </a:bodyPr>
          <a:lstStyle/>
          <a:p>
            <a:r>
              <a:rPr lang="en-US" b="1" dirty="0">
                <a:latin typeface="Cambria"/>
              </a:rPr>
              <a:t>User Module</a:t>
            </a:r>
            <a:endParaRPr lang="en-US" dirty="0">
              <a:latin typeface="Cambria"/>
            </a:endParaRPr>
          </a:p>
          <a:p>
            <a:pPr lvl="1">
              <a:buSzPts val="2400"/>
            </a:pPr>
            <a:r>
              <a:rPr lang="en-US" sz="2400" dirty="0">
                <a:latin typeface="Cambria"/>
              </a:rPr>
              <a:t>Student/Teacher/Admin registration &amp; login</a:t>
            </a:r>
            <a:endParaRPr lang="en-US" sz="2400" dirty="0">
              <a:latin typeface="Cambria"/>
            </a:endParaRPr>
          </a:p>
          <a:p>
            <a:pPr lvl="1">
              <a:buSzPts val="2400"/>
            </a:pPr>
            <a:r>
              <a:rPr lang="en-US" sz="2400" dirty="0">
                <a:latin typeface="Cambria"/>
              </a:rPr>
              <a:t>Profile management (supports local languages)</a:t>
            </a:r>
            <a:endParaRPr lang="en-US" sz="2400" dirty="0">
              <a:latin typeface="Cambria"/>
            </a:endParaRPr>
          </a:p>
          <a:p>
            <a:r>
              <a:rPr lang="en-US" b="1" dirty="0">
                <a:latin typeface="Cambria"/>
              </a:rPr>
              <a:t>Study Material Module</a:t>
            </a:r>
            <a:endParaRPr lang="en-US" dirty="0">
              <a:latin typeface="Cambria"/>
            </a:endParaRPr>
          </a:p>
          <a:p>
            <a:pPr lvl="1">
              <a:buSzPts val="2400"/>
            </a:pPr>
            <a:r>
              <a:rPr lang="en-US" sz="2400" dirty="0">
                <a:latin typeface="Cambria"/>
              </a:rPr>
              <a:t>Provides digital resources (PDFs, videos, quizzes)</a:t>
            </a:r>
            <a:endParaRPr lang="en-US" sz="2400" dirty="0">
              <a:latin typeface="Cambria"/>
            </a:endParaRPr>
          </a:p>
          <a:p>
            <a:pPr lvl="1">
              <a:buSzPts val="2400"/>
            </a:pPr>
            <a:r>
              <a:rPr lang="en-US" sz="2400" dirty="0">
                <a:latin typeface="Cambria"/>
              </a:rPr>
              <a:t>Multilingual support with offline access option</a:t>
            </a:r>
            <a:endParaRPr lang="en-US" sz="2400" dirty="0">
              <a:latin typeface="Cambria"/>
            </a:endParaRPr>
          </a:p>
          <a:p>
            <a:r>
              <a:rPr lang="en-US" b="1" dirty="0">
                <a:latin typeface="Cambria"/>
              </a:rPr>
              <a:t>Skill Progress &amp; Monitoring Module</a:t>
            </a:r>
            <a:endParaRPr lang="en-US" dirty="0">
              <a:latin typeface="Cambria"/>
            </a:endParaRPr>
          </a:p>
          <a:p>
            <a:pPr lvl="1">
              <a:buSzPts val="2400"/>
            </a:pPr>
            <a:r>
              <a:rPr lang="en-US" sz="2400" dirty="0">
                <a:latin typeface="Cambria"/>
              </a:rPr>
              <a:t>Tracks student learning progress &amp; communication skills</a:t>
            </a:r>
            <a:endParaRPr lang="en-US" sz="2400" dirty="0">
              <a:latin typeface="Cambria"/>
            </a:endParaRPr>
          </a:p>
          <a:p>
            <a:pPr lvl="1">
              <a:buSzPts val="2400"/>
            </a:pPr>
            <a:r>
              <a:rPr lang="en-US" sz="2400" dirty="0">
                <a:latin typeface="Cambria"/>
              </a:rPr>
              <a:t>Displays analytics dashboard for performance</a:t>
            </a:r>
            <a:endParaRPr lang="en-US" sz="2400" dirty="0">
              <a:latin typeface="Cambria"/>
            </a:endParaRPr>
          </a:p>
          <a:p>
            <a:r>
              <a:rPr lang="en-US" b="1" dirty="0">
                <a:latin typeface="Cambria"/>
              </a:rPr>
              <a:t>Scholarship &amp; Grants Module</a:t>
            </a:r>
            <a:endParaRPr lang="en-US" dirty="0">
              <a:latin typeface="Cambria"/>
            </a:endParaRPr>
          </a:p>
          <a:p>
            <a:pPr lvl="1">
              <a:buSzPts val="2400"/>
            </a:pPr>
            <a:r>
              <a:rPr lang="en-US" sz="2400" dirty="0">
                <a:latin typeface="Cambria"/>
              </a:rPr>
              <a:t>Provides information on scholarships, grants, and loans</a:t>
            </a:r>
            <a:endParaRPr lang="en-US" sz="2400" dirty="0">
              <a:latin typeface="Cambria"/>
            </a:endParaRPr>
          </a:p>
          <a:p>
            <a:pPr lvl="1">
              <a:buSzPts val="2400"/>
            </a:pPr>
            <a:r>
              <a:rPr lang="en-US" sz="2400" dirty="0">
                <a:latin typeface="Cambria"/>
              </a:rPr>
              <a:t>Includes eligibility criteria and deadlines</a:t>
            </a:r>
            <a:endParaRPr lang="en-US" sz="2400" dirty="0">
              <a:latin typeface="Cambria"/>
            </a:endParaRPr>
          </a:p>
          <a:p>
            <a:r>
              <a:rPr lang="en-US" b="1" dirty="0">
                <a:latin typeface="Cambria"/>
              </a:rPr>
              <a:t>Employment &amp; Opportunities Module</a:t>
            </a:r>
            <a:endParaRPr lang="en-US" dirty="0">
              <a:latin typeface="Cambria"/>
            </a:endParaRPr>
          </a:p>
          <a:p>
            <a:pPr lvl="1">
              <a:buSzPts val="2400"/>
            </a:pPr>
            <a:r>
              <a:rPr lang="en-US" sz="2400" dirty="0">
                <a:latin typeface="Cambria"/>
              </a:rPr>
              <a:t>Shares job and internship opportunities</a:t>
            </a:r>
            <a:endParaRPr lang="en-US" sz="2400" dirty="0">
              <a:latin typeface="Cambria"/>
            </a:endParaRPr>
          </a:p>
          <a:p>
            <a:pPr lvl="1">
              <a:buSzPts val="2400"/>
            </a:pPr>
            <a:r>
              <a:rPr lang="en-US" sz="2400" dirty="0">
                <a:latin typeface="Cambria"/>
              </a:rPr>
              <a:t>Career guidance and training programs</a:t>
            </a:r>
            <a:endParaRPr lang="en-US" sz="2400" dirty="0">
              <a:latin typeface="Cambria"/>
            </a:endParaRPr>
          </a:p>
          <a:p>
            <a:r>
              <a:rPr lang="en-US" b="1" dirty="0">
                <a:latin typeface="Cambria"/>
              </a:rPr>
              <a:t>Mentor &amp; Community Module</a:t>
            </a:r>
            <a:endParaRPr lang="en-US" dirty="0">
              <a:latin typeface="Cambria"/>
            </a:endParaRPr>
          </a:p>
          <a:p>
            <a:pPr lvl="1">
              <a:buSzPts val="2400"/>
            </a:pPr>
            <a:r>
              <a:rPr lang="en-US" sz="2400" dirty="0">
                <a:latin typeface="Cambria"/>
              </a:rPr>
              <a:t>Connects students with mentors for guidance</a:t>
            </a:r>
            <a:endParaRPr lang="en-US" sz="2400" dirty="0">
              <a:latin typeface="Cambria"/>
            </a:endParaRPr>
          </a:p>
          <a:p>
            <a:pPr lvl="1">
              <a:buSzPts val="2400"/>
            </a:pPr>
            <a:r>
              <a:rPr lang="en-US" sz="2400" dirty="0">
                <a:latin typeface="Cambria"/>
              </a:rPr>
              <a:t>Peer-to-peer discussions and knowledge sharing</a:t>
            </a:r>
            <a:endParaRPr lang="en-US" sz="2400" dirty="0">
              <a:latin typeface="Cambria"/>
            </a:endParaRPr>
          </a:p>
          <a:p>
            <a:r>
              <a:rPr lang="en-US" b="1" dirty="0">
                <a:latin typeface="Cambria"/>
              </a:rPr>
              <a:t>Admin Module</a:t>
            </a:r>
            <a:endParaRPr lang="en-US" dirty="0">
              <a:latin typeface="Cambria"/>
            </a:endParaRPr>
          </a:p>
          <a:p>
            <a:pPr lvl="1">
              <a:buSzPts val="2400"/>
            </a:pPr>
            <a:r>
              <a:rPr lang="en-US" sz="2400" dirty="0">
                <a:latin typeface="Cambria"/>
              </a:rPr>
              <a:t>Manages content, users, and system operations</a:t>
            </a:r>
            <a:endParaRPr lang="en-US" sz="2400" dirty="0">
              <a:latin typeface="Cambria"/>
            </a:endParaRPr>
          </a:p>
          <a:p>
            <a:pPr lvl="1">
              <a:buSzPts val="2400"/>
            </a:pPr>
            <a:r>
              <a:rPr lang="en-US" sz="2400" dirty="0">
                <a:latin typeface="Cambria"/>
              </a:rPr>
              <a:t>Generates reports and analytics for decision-making</a:t>
            </a:r>
            <a:endParaRPr lang="en-US" sz="2400" dirty="0">
              <a:latin typeface="Cambria"/>
            </a:endParaRPr>
          </a:p>
          <a:p>
            <a:endParaRPr lang="en-US" dirty="0">
              <a:latin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a:ea typeface="Cambria"/>
              </a:rPr>
              <a:t>Hardware and Software Requirements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857250"/>
            <a:ext cx="10668000" cy="4953000"/>
          </a:xfrm>
          <a:prstGeom prst="rect">
            <a:avLst/>
          </a:prstGeom>
          <a:noFill/>
          <a:ln>
            <a:noFill/>
          </a:ln>
        </p:spPr>
        <p:txBody>
          <a:bodyPr spcFirstLastPara="1" wrap="square" lIns="91425" tIns="45700" rIns="91425" bIns="45700" anchor="t" anchorCtr="0">
            <a:noAutofit/>
          </a:bodyPr>
          <a:lstStyle/>
          <a:p>
            <a:pPr marL="152400" indent="0" algn="just">
              <a:lnSpc>
                <a:spcPct val="200000"/>
              </a:lnSpc>
              <a:spcBef>
                <a:spcPts val="0"/>
              </a:spcBef>
              <a:buNone/>
            </a:pPr>
            <a:r>
              <a:rPr lang="en-US" sz="1600" b="1" dirty="0">
                <a:latin typeface="Cambria"/>
              </a:rPr>
              <a:t>Hardware Requirements</a:t>
            </a:r>
            <a:endParaRPr lang="en-US" sz="1600" b="1"/>
          </a:p>
          <a:p>
            <a:pPr marL="495300" indent="-342900" algn="just">
              <a:lnSpc>
                <a:spcPct val="200000"/>
              </a:lnSpc>
              <a:spcBef>
                <a:spcPts val="0"/>
              </a:spcBef>
            </a:pPr>
            <a:r>
              <a:rPr lang="en-US" sz="1400" dirty="0">
                <a:latin typeface="Cambria"/>
              </a:rPr>
              <a:t>Processor: Intel i5 / AMD Ryzen 5 or higher</a:t>
            </a:r>
            <a:endParaRPr lang="en-US" sz="1400" dirty="0">
              <a:latin typeface="Cambria"/>
            </a:endParaRPr>
          </a:p>
          <a:p>
            <a:pPr marL="495300" indent="-342900" algn="just">
              <a:lnSpc>
                <a:spcPct val="200000"/>
              </a:lnSpc>
              <a:spcBef>
                <a:spcPts val="0"/>
              </a:spcBef>
            </a:pPr>
            <a:r>
              <a:rPr lang="en-US" sz="1400" dirty="0">
                <a:latin typeface="Cambria"/>
              </a:rPr>
              <a:t>RAM: 8 GB or more</a:t>
            </a:r>
            <a:endParaRPr lang="en-US" sz="1400" dirty="0">
              <a:latin typeface="Cambria"/>
            </a:endParaRPr>
          </a:p>
          <a:p>
            <a:pPr marL="495300" indent="-342900" algn="just">
              <a:lnSpc>
                <a:spcPct val="200000"/>
              </a:lnSpc>
              <a:spcBef>
                <a:spcPts val="0"/>
              </a:spcBef>
            </a:pPr>
            <a:r>
              <a:rPr lang="en-US" sz="1400" dirty="0">
                <a:latin typeface="Cambria"/>
              </a:rPr>
              <a:t>Storage: 256 GB SSD</a:t>
            </a:r>
            <a:endParaRPr lang="en-US" sz="1400" dirty="0">
              <a:latin typeface="Cambria"/>
            </a:endParaRPr>
          </a:p>
          <a:p>
            <a:pPr marL="495300" indent="-342900" algn="just">
              <a:lnSpc>
                <a:spcPct val="200000"/>
              </a:lnSpc>
              <a:spcBef>
                <a:spcPts val="0"/>
              </a:spcBef>
            </a:pPr>
            <a:r>
              <a:rPr lang="en-US" sz="1400" dirty="0">
                <a:latin typeface="Cambria"/>
              </a:rPr>
              <a:t>OS: Windows 10 / Linux / macOS</a:t>
            </a:r>
            <a:endParaRPr lang="en-US" sz="1400" dirty="0">
              <a:latin typeface="Cambria"/>
            </a:endParaRPr>
          </a:p>
          <a:p>
            <a:pPr marL="152400" indent="0" algn="just">
              <a:lnSpc>
                <a:spcPct val="200000"/>
              </a:lnSpc>
              <a:spcBef>
                <a:spcPts val="0"/>
              </a:spcBef>
              <a:buNone/>
            </a:pPr>
            <a:r>
              <a:rPr lang="en-US" sz="1600" b="1" dirty="0">
                <a:latin typeface="Cambria"/>
              </a:rPr>
              <a:t>Software Requirements</a:t>
            </a:r>
            <a:endParaRPr lang="en-US" sz="1600" b="1" dirty="0">
              <a:latin typeface="Cambria"/>
            </a:endParaRPr>
          </a:p>
          <a:p>
            <a:pPr marL="495300" indent="-342900" algn="just">
              <a:lnSpc>
                <a:spcPct val="200000"/>
              </a:lnSpc>
              <a:spcBef>
                <a:spcPts val="0"/>
              </a:spcBef>
            </a:pPr>
            <a:r>
              <a:rPr lang="en-US" sz="1400" dirty="0">
                <a:latin typeface="Cambria"/>
              </a:rPr>
              <a:t>Frontend (User Interface):HTML5, CSS3 + Bootstrap, JavaScript</a:t>
            </a:r>
            <a:endParaRPr lang="en-US" sz="1400" dirty="0">
              <a:latin typeface="Cambria"/>
            </a:endParaRPr>
          </a:p>
          <a:p>
            <a:pPr marL="495300" indent="-342900" algn="just">
              <a:lnSpc>
                <a:spcPct val="200000"/>
              </a:lnSpc>
              <a:spcBef>
                <a:spcPts val="0"/>
              </a:spcBef>
            </a:pPr>
            <a:r>
              <a:rPr lang="en-US" sz="1400" dirty="0">
                <a:latin typeface="Cambria"/>
              </a:rPr>
              <a:t>Backend (Server &amp; API): Node.js + Express.js</a:t>
            </a:r>
            <a:endParaRPr lang="en-US" sz="1400" dirty="0">
              <a:latin typeface="Cambria"/>
            </a:endParaRPr>
          </a:p>
          <a:p>
            <a:pPr marL="495300" indent="-342900" algn="just">
              <a:lnSpc>
                <a:spcPct val="200000"/>
              </a:lnSpc>
              <a:spcBef>
                <a:spcPts val="0"/>
              </a:spcBef>
            </a:pPr>
            <a:r>
              <a:rPr lang="en-US" sz="1400" dirty="0">
                <a:latin typeface="Cambria"/>
              </a:rPr>
              <a:t>Database: MongoDB (NoSQL)</a:t>
            </a:r>
            <a:endParaRPr lang="en-US" sz="1400" dirty="0">
              <a:latin typeface="Cambria"/>
            </a:endParaRPr>
          </a:p>
          <a:p>
            <a:pPr marL="495300" indent="-342900" algn="just">
              <a:lnSpc>
                <a:spcPct val="200000"/>
              </a:lnSpc>
              <a:spcBef>
                <a:spcPts val="0"/>
              </a:spcBef>
            </a:pPr>
            <a:r>
              <a:rPr lang="en-US" sz="1400" dirty="0">
                <a:latin typeface="Cambria"/>
              </a:rPr>
              <a:t>External APIs &amp; Services: Google Meet API, Google Translate API</a:t>
            </a:r>
            <a:endParaRPr lang="en-US" sz="1400" dirty="0">
              <a:latin typeface="Cambria"/>
            </a:endParaRPr>
          </a:p>
          <a:p>
            <a:pPr marL="495300" indent="-342900" algn="just">
              <a:lnSpc>
                <a:spcPct val="200000"/>
              </a:lnSpc>
              <a:spcBef>
                <a:spcPts val="0"/>
              </a:spcBef>
            </a:pPr>
            <a:r>
              <a:rPr lang="en-US" sz="1400" dirty="0">
                <a:latin typeface="Cambria"/>
              </a:rPr>
              <a:t>Hosting &amp; Deployment: GitHub, Netlify, Render</a:t>
            </a:r>
            <a:endParaRPr lang="en-US" sz="1400" dirty="0">
              <a:latin typeface="Cambria"/>
            </a:endParaRPr>
          </a:p>
          <a:p>
            <a:pPr marL="495300" indent="-342900" algn="just">
              <a:lnSpc>
                <a:spcPct val="200000"/>
              </a:lnSpc>
              <a:spcBef>
                <a:spcPts val="0"/>
              </a:spcBef>
            </a:pPr>
            <a:r>
              <a:rPr lang="en-US" sz="1400" dirty="0">
                <a:latin typeface="Cambria"/>
              </a:rPr>
              <a:t>Optional Enhancements: AI/NLP, Offline Access (PWA)</a:t>
            </a:r>
            <a:endParaRPr lang="en-US" sz="1400" dirty="0">
              <a:latin typeface="Cambria"/>
            </a:endParaRPr>
          </a:p>
          <a:p>
            <a:pPr marL="495300" lvl="0" indent="-342900" algn="just" rtl="0">
              <a:lnSpc>
                <a:spcPct val="200000"/>
              </a:lnSpc>
              <a:spcBef>
                <a:spcPts val="0"/>
              </a:spcBef>
              <a:spcAft>
                <a:spcPts val="0"/>
              </a:spcAft>
              <a:buClr>
                <a:schemeClr val="dk1"/>
              </a:buClr>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endParaRPr lang="en-US" sz="14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a:latin typeface="Cambria"/>
                <a:ea typeface="Cambria"/>
              </a:rPr>
              <a:t>Innovation or Novel Contributions</a:t>
            </a:r>
            <a:endParaRPr lang="en-US"/>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algn="just">
              <a:buNone/>
            </a:pPr>
            <a:r>
              <a:rPr lang="en-US" dirty="0">
                <a:latin typeface="Cambria"/>
              </a:rPr>
              <a:t>Our system is unique because it:</a:t>
            </a:r>
            <a:endParaRPr lang="en-US" dirty="0">
              <a:latin typeface="Cambria"/>
            </a:endParaRPr>
          </a:p>
          <a:p>
            <a:pPr marL="285750" indent="-285750" algn="just"/>
            <a:r>
              <a:rPr lang="en-US" b="1" dirty="0">
                <a:latin typeface="Cambria"/>
              </a:rPr>
              <a:t>Brings everything into one platform</a:t>
            </a:r>
            <a:r>
              <a:rPr lang="en-US" dirty="0">
                <a:latin typeface="Cambria"/>
              </a:rPr>
              <a:t> – learning materials, mentorship, skill tracking, and career resources are all in one place.</a:t>
            </a:r>
            <a:endParaRPr lang="en-US" dirty="0">
              <a:latin typeface="Cambria"/>
            </a:endParaRPr>
          </a:p>
          <a:p>
            <a:pPr marL="285750" indent="-285750" algn="just"/>
            <a:r>
              <a:rPr lang="en-US" b="1" dirty="0">
                <a:latin typeface="Cambria"/>
              </a:rPr>
              <a:t>Supports multiple Indian languages</a:t>
            </a:r>
            <a:r>
              <a:rPr lang="en-US" dirty="0">
                <a:latin typeface="Cambria"/>
              </a:rPr>
              <a:t> – making learning easier and more inclusive for rural students.</a:t>
            </a:r>
            <a:endParaRPr lang="en-US" dirty="0">
              <a:latin typeface="Cambria"/>
            </a:endParaRPr>
          </a:p>
          <a:p>
            <a:pPr marL="285750" indent="-285750" algn="just"/>
            <a:r>
              <a:rPr lang="en-US" b="1" dirty="0">
                <a:latin typeface="Cambria"/>
              </a:rPr>
              <a:t>Provides personalized suggestions</a:t>
            </a:r>
            <a:r>
              <a:rPr lang="en-US" dirty="0">
                <a:latin typeface="Cambria"/>
              </a:rPr>
              <a:t> – uses basic AI logic to recommend study materials based on student progress.</a:t>
            </a:r>
            <a:endParaRPr lang="en-US" dirty="0">
              <a:latin typeface="Cambria"/>
            </a:endParaRPr>
          </a:p>
          <a:p>
            <a:pPr marL="285750" indent="-285750" algn="just"/>
            <a:r>
              <a:rPr lang="en-US" b="1" dirty="0">
                <a:latin typeface="Cambria"/>
              </a:rPr>
              <a:t>Connects learners with real mentors</a:t>
            </a:r>
            <a:r>
              <a:rPr lang="en-US" dirty="0">
                <a:latin typeface="Cambria"/>
              </a:rPr>
              <a:t> – for guidance, motivation, and career advice.</a:t>
            </a:r>
            <a:endParaRPr lang="en-US" dirty="0">
              <a:latin typeface="Cambria"/>
            </a:endParaRPr>
          </a:p>
          <a:p>
            <a:pPr marL="285750" indent="-285750" algn="just"/>
            <a:r>
              <a:rPr lang="en-US" b="1" dirty="0">
                <a:latin typeface="Cambria"/>
              </a:rPr>
              <a:t>Includes career and scholarship information</a:t>
            </a:r>
            <a:r>
              <a:rPr lang="en-US" dirty="0">
                <a:latin typeface="Cambria"/>
              </a:rPr>
              <a:t> – so students can find opportunities beyond academics.</a:t>
            </a:r>
            <a:endParaRPr lang="en-US" dirty="0">
              <a:latin typeface="Cambria"/>
            </a:endParaRPr>
          </a:p>
          <a:p>
            <a:pPr marL="285750" indent="-285750" algn="just"/>
            <a:r>
              <a:rPr lang="en-US" b="1" dirty="0">
                <a:latin typeface="Cambria"/>
                <a:ea typeface="Cambria"/>
              </a:rPr>
              <a:t>Works in low internet areas</a:t>
            </a:r>
            <a:r>
              <a:rPr lang="en-US" dirty="0">
                <a:latin typeface="Cambria"/>
                <a:ea typeface="Cambria"/>
              </a:rPr>
              <a:t> – offline access to study materials ensures no student is left out.</a:t>
            </a:r>
            <a:endParaRPr lang="en-US" dirty="0"/>
          </a:p>
          <a:p>
            <a:pPr marL="34290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br>
              <a:rPr lang="en-US" err="1">
                <a:latin typeface="Cambria" panose="02040503050406030204" pitchFamily="18" charset="0"/>
                <a:ea typeface="Cambria" panose="02040503050406030204" pitchFamily="18" charset="0"/>
                <a:sym typeface="+mn-ea"/>
              </a:rPr>
            </a:br>
            <a:r>
              <a:rPr lang="en-US" err="1">
                <a:latin typeface="Cambria" panose="02040503050406030204" pitchFamily="18" charset="0"/>
                <a:ea typeface="Cambria" panose="02040503050406030204" pitchFamily="18" charset="0"/>
                <a:sym typeface="+mn-ea"/>
              </a:rPr>
              <a:t>Git</a:t>
            </a:r>
            <a:r>
              <a:rPr lang="en-US">
                <a:latin typeface="Cambria" panose="02040503050406030204" pitchFamily="18" charset="0"/>
                <a:ea typeface="Cambria" panose="02040503050406030204" pitchFamily="18" charset="0"/>
                <a:sym typeface="+mn-ea"/>
              </a:rPr>
              <a:t>-hub Link</a:t>
            </a:r>
            <a:br>
              <a:rPr lang="en-US">
                <a:latin typeface="Cambria" panose="02040503050406030204" pitchFamily="18" charset="0"/>
                <a:ea typeface="Cambria" panose="02040503050406030204" pitchFamily="18" charset="0"/>
              </a:rPr>
            </a:br>
            <a:endParaRPr lang="en-US"/>
          </a:p>
        </p:txBody>
      </p:sp>
      <p:sp>
        <p:nvSpPr>
          <p:cNvPr id="3" name="Text Placeholder 2"/>
          <p:cNvSpPr>
            <a:spLocks noGrp="1"/>
          </p:cNvSpPr>
          <p:nvPr>
            <p:ph type="body" idx="1"/>
          </p:nvPr>
        </p:nvSpPr>
        <p:spPr/>
        <p:txBody>
          <a:bodyPr/>
          <a:p>
            <a:pPr marL="76200" indent="0">
              <a:buNone/>
            </a:pPr>
            <a:endParaRPr lang="en-US">
              <a:hlinkClick r:id="rId1" action="ppaction://hlinkfile"/>
            </a:endParaRPr>
          </a:p>
          <a:p>
            <a:pPr marL="76200" indent="0">
              <a:buNone/>
            </a:pPr>
            <a:endParaRPr lang="en-US">
              <a:hlinkClick r:id="rId1" action="ppaction://hlinkfile"/>
            </a:endParaRPr>
          </a:p>
          <a:p>
            <a:pPr marL="76200" indent="0">
              <a:buNone/>
            </a:pPr>
            <a:endParaRPr lang="en-US">
              <a:hlinkClick r:id="rId1" action="ppaction://hlinkfile"/>
            </a:endParaRPr>
          </a:p>
          <a:p>
            <a:pPr marL="76200" indent="0">
              <a:buNone/>
            </a:pPr>
            <a:r>
              <a:rPr lang="en-US">
                <a:sym typeface="+mn-ea"/>
                <a:hlinkClick r:id="rId1" action="ppaction://hlinkfile"/>
              </a:rPr>
              <a:t> https://github.com/imrxnsk/SmartEduRural.git</a:t>
            </a:r>
            <a:endParaRPr lang="en-US"/>
          </a:p>
          <a:p>
            <a:pPr marL="76200" indent="0">
              <a:buNone/>
            </a:pP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1"/>
          <a:srcRect l="74" t="16732" r="-75" b="-99"/>
          <a:stretch>
            <a:fillRect/>
          </a:stretch>
        </p:blipFill>
        <p:spPr>
          <a:xfrm>
            <a:off x="2122715" y="1132734"/>
            <a:ext cx="8048634" cy="49621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20000"/>
          </a:bodyPr>
          <a:lstStyle/>
          <a:p>
            <a:pPr algn="just">
              <a:buNone/>
            </a:pPr>
            <a:r>
              <a:rPr lang="en-US" sz="1800" dirty="0">
                <a:latin typeface="Cambria"/>
              </a:rPr>
              <a:t>1] A. Bardia and A. Agrawal, “</a:t>
            </a:r>
            <a:r>
              <a:rPr lang="en-US" sz="1800" err="1">
                <a:latin typeface="Cambria"/>
              </a:rPr>
              <a:t>MindCraft</a:t>
            </a:r>
            <a:r>
              <a:rPr lang="en-US" sz="1800" dirty="0">
                <a:latin typeface="Cambria"/>
              </a:rPr>
              <a:t>: Revolutionizing Education through AI-Powered Personalized Learning and Mentorship for Rural India,” </a:t>
            </a:r>
            <a:r>
              <a:rPr lang="en-US" sz="1800" i="1" err="1">
                <a:latin typeface="Cambria"/>
              </a:rPr>
              <a:t>arXiv</a:t>
            </a:r>
            <a:r>
              <a:rPr lang="en-US" sz="1800" i="1" dirty="0">
                <a:latin typeface="Cambria"/>
              </a:rPr>
              <a:t> preprint</a:t>
            </a:r>
            <a:r>
              <a:rPr lang="en-US" sz="1800" dirty="0">
                <a:latin typeface="Cambria"/>
              </a:rPr>
              <a:t> arXiv:2502.05826, Feb. 2025. </a:t>
            </a:r>
            <a:endParaRPr lang="en-US" sz="1800" dirty="0">
              <a:latin typeface="Cambria"/>
            </a:endParaRPr>
          </a:p>
          <a:p>
            <a:pPr algn="just">
              <a:buNone/>
            </a:pPr>
            <a:r>
              <a:rPr lang="en-US" sz="1800" dirty="0">
                <a:latin typeface="Cambria"/>
              </a:rPr>
              <a:t>[2] Aashish Jain and Rohit Khokher, “Technologies for Quality and Sustainable Online Education in Rural India: A Comprehensive Review,” in </a:t>
            </a:r>
            <a:r>
              <a:rPr lang="en-US" sz="1800" i="1" dirty="0">
                <a:latin typeface="Cambria"/>
              </a:rPr>
              <a:t>Kaleidoscope: ITU Academic Conference</a:t>
            </a:r>
            <a:r>
              <a:rPr lang="en-US" sz="1800" dirty="0">
                <a:latin typeface="Cambria"/>
              </a:rPr>
              <a:t>, 2024. </a:t>
            </a:r>
            <a:endParaRPr lang="en-US">
              <a:latin typeface="Cambria"/>
            </a:endParaRPr>
          </a:p>
          <a:p>
            <a:pPr algn="just">
              <a:buNone/>
            </a:pPr>
            <a:r>
              <a:rPr lang="en-US" sz="1800" dirty="0">
                <a:latin typeface="Cambria"/>
              </a:rPr>
              <a:t>[3] R. Vaidehi, A. </a:t>
            </a:r>
            <a:r>
              <a:rPr lang="en-US" sz="1800" err="1">
                <a:latin typeface="Cambria"/>
              </a:rPr>
              <a:t>Bheemeshwar</a:t>
            </a:r>
            <a:r>
              <a:rPr lang="en-US" sz="1800" dirty="0">
                <a:latin typeface="Cambria"/>
              </a:rPr>
              <a:t> Reddy, and S. Banerjee, “Explaining Caste-based Digital Divide in India,” </a:t>
            </a:r>
            <a:r>
              <a:rPr lang="en-US" sz="1800" i="1" err="1">
                <a:latin typeface="Cambria"/>
              </a:rPr>
              <a:t>arXiv</a:t>
            </a:r>
            <a:r>
              <a:rPr lang="en-US" sz="1800" i="1" dirty="0">
                <a:latin typeface="Cambria"/>
              </a:rPr>
              <a:t> preprint</a:t>
            </a:r>
            <a:r>
              <a:rPr lang="en-US" sz="1800" dirty="0">
                <a:latin typeface="Cambria"/>
              </a:rPr>
              <a:t> arXiv:2106.15917, Jun. 2021. </a:t>
            </a:r>
            <a:endParaRPr lang="en-US" sz="1800" dirty="0">
              <a:latin typeface="Cambria"/>
            </a:endParaRPr>
          </a:p>
          <a:p>
            <a:pPr algn="just">
              <a:buNone/>
            </a:pPr>
            <a:r>
              <a:rPr lang="en-US" sz="1800" dirty="0">
                <a:latin typeface="Cambria"/>
              </a:rPr>
              <a:t>[4] S. Hussain, Z. Wang, and S. Rahim, “E-learning Services for Rural Communities,” </a:t>
            </a:r>
            <a:r>
              <a:rPr lang="en-US" sz="1800" i="1" err="1">
                <a:latin typeface="Cambria"/>
              </a:rPr>
              <a:t>arXiv</a:t>
            </a:r>
            <a:r>
              <a:rPr lang="en-US" sz="1800" i="1" dirty="0">
                <a:latin typeface="Cambria"/>
              </a:rPr>
              <a:t> preprint</a:t>
            </a:r>
            <a:r>
              <a:rPr lang="en-US" sz="1800" dirty="0">
                <a:latin typeface="Cambria"/>
              </a:rPr>
              <a:t> arXiv:1308.4820, Aug. 2013. </a:t>
            </a:r>
            <a:endParaRPr lang="en-US" sz="1800" dirty="0">
              <a:latin typeface="Cambria"/>
            </a:endParaRPr>
          </a:p>
          <a:p>
            <a:pPr algn="just">
              <a:buNone/>
            </a:pPr>
            <a:r>
              <a:rPr lang="en-US" sz="1800" dirty="0">
                <a:latin typeface="Cambria"/>
              </a:rPr>
              <a:t>[5] N. Singh, S. Singh, B. Goswami, S. Kumar, and B. Kumar, “Bridging the Digital Divide: A Comprehensive Analysis of ICT Infrastructure in Rural Schools of Jharkhand, India,” </a:t>
            </a:r>
            <a:r>
              <a:rPr lang="en-US" sz="1800" i="1" dirty="0">
                <a:latin typeface="Cambria"/>
              </a:rPr>
              <a:t>Educational Administration: Theory and Practice</a:t>
            </a:r>
            <a:r>
              <a:rPr lang="en-US" sz="1800" dirty="0">
                <a:latin typeface="Cambria"/>
              </a:rPr>
              <a:t>, vol. 30, no. 6, pp. 4456–4460, Jun. 2024. </a:t>
            </a:r>
            <a:endParaRPr lang="en-US" sz="1800" dirty="0">
              <a:latin typeface="Cambria"/>
            </a:endParaRPr>
          </a:p>
          <a:p>
            <a:pPr algn="just">
              <a:buNone/>
            </a:pPr>
            <a:r>
              <a:rPr lang="en-US" sz="1800" dirty="0">
                <a:latin typeface="Cambria"/>
              </a:rPr>
              <a:t>[6] Y. Yu, D. Appiah, B. Zulu, and K. A. </a:t>
            </a:r>
            <a:r>
              <a:rPr lang="en-US" sz="1800" dirty="0" err="1">
                <a:latin typeface="Cambria"/>
              </a:rPr>
              <a:t>AduPoku</a:t>
            </a:r>
            <a:r>
              <a:rPr lang="en-US" sz="1800" dirty="0">
                <a:latin typeface="Cambria"/>
              </a:rPr>
              <a:t>, “Integrating Rural Development, Education, and Management: Challenges and Strategies,” 2024.</a:t>
            </a:r>
            <a:endParaRPr lang="en-US" dirty="0">
              <a:latin typeface="Cambria"/>
            </a:endParaRPr>
          </a:p>
          <a:p>
            <a:pPr algn="just">
              <a:buNone/>
            </a:pPr>
            <a:r>
              <a:rPr lang="en-US" sz="1800" dirty="0">
                <a:latin typeface="Cambria"/>
              </a:rPr>
              <a:t>[7] X. Wang, G. W. Young, M. Z. Iqbal, and C. Mc Guckin, “The potential of extended reality in rural education’s future – perspectives from rural educators,” 2024.</a:t>
            </a:r>
            <a:endParaRPr lang="en-US" dirty="0">
              <a:latin typeface="Cambria"/>
            </a:endParaRPr>
          </a:p>
          <a:p>
            <a:pPr algn="just">
              <a:buNone/>
            </a:pPr>
            <a:r>
              <a:rPr lang="en-US" sz="1800" dirty="0">
                <a:latin typeface="Cambria"/>
              </a:rPr>
              <a:t>[8] P. D. Maheshwari, “Digital intervention in elementary education: </a:t>
            </a:r>
            <a:r>
              <a:rPr lang="en-US" sz="1800" dirty="0" err="1">
                <a:latin typeface="Cambria"/>
              </a:rPr>
              <a:t>Analysing</a:t>
            </a:r>
            <a:r>
              <a:rPr lang="en-US" sz="1800" dirty="0">
                <a:latin typeface="Cambria"/>
              </a:rPr>
              <a:t> the implementation of NEP 2020 in rural India,” 2024.</a:t>
            </a:r>
            <a:endParaRPr lang="en-US" dirty="0">
              <a:latin typeface="Cambria"/>
            </a:endParaRPr>
          </a:p>
          <a:p>
            <a:pPr algn="just">
              <a:buNone/>
            </a:pPr>
            <a:r>
              <a:rPr lang="en-US" sz="1800" dirty="0">
                <a:latin typeface="Cambria"/>
              </a:rPr>
              <a:t>[9] M. T. K. Farooqi, I. Amanat, and M. Awan, “Ethical considerations and challenges in the integration of artificial intelligence in education: A systematic review,” Sep. 15, 2024.</a:t>
            </a:r>
            <a:endParaRPr lang="en-US" dirty="0">
              <a:latin typeface="Cambria"/>
            </a:endParaRPr>
          </a:p>
          <a:p>
            <a:pPr algn="just">
              <a:buNone/>
            </a:pPr>
            <a:r>
              <a:rPr lang="en-US" sz="1800" dirty="0">
                <a:latin typeface="Cambria"/>
              </a:rPr>
              <a:t>[10] Y. Lin, “Application and challenges of computer networks in distance education,” 2024.</a:t>
            </a:r>
            <a:endParaRPr lang="en-US" dirty="0">
              <a:latin typeface="Cambria"/>
            </a:endParaRPr>
          </a:p>
          <a:p>
            <a:pPr algn="just">
              <a:buNone/>
            </a:pPr>
            <a:endParaRPr lang="en-US" sz="1800" dirty="0">
              <a:latin typeface="Cambria"/>
            </a:endParaRPr>
          </a:p>
          <a:p>
            <a:pPr marL="152400" indent="0" algn="just">
              <a:spcBef>
                <a:spcPts val="0"/>
              </a:spcBef>
              <a:buNone/>
            </a:pPr>
            <a:endParaRPr lang="en-US" sz="1600" dirty="0">
              <a:latin typeface="Cambria"/>
              <a:ea typeface="Cambria"/>
            </a:endParaRPr>
          </a:p>
          <a:p>
            <a:pPr marL="152400" indent="0" algn="just">
              <a:spcBef>
                <a:spcPts val="0"/>
              </a:spcBef>
              <a:buNone/>
            </a:pPr>
            <a:endParaRPr lang="en-US" sz="1600" dirty="0">
              <a:latin typeface="Cambria"/>
              <a:ea typeface="Cambria"/>
            </a:endParaRPr>
          </a:p>
          <a:p>
            <a:pPr marL="152400" indent="0" algn="just">
              <a:spcBef>
                <a:spcPts val="0"/>
              </a:spcBef>
              <a:buNone/>
            </a:pPr>
            <a:endParaRPr lang="en-US" sz="1600" dirty="0">
              <a:latin typeface="Cambria"/>
              <a:ea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a:ea typeface="Cambria"/>
              </a:rPr>
              <a:t>References (IEEE Paper format)(contd...)</a:t>
            </a:r>
            <a:endParaRPr lang="en-US" b="0" dirty="0">
              <a:solidFill>
                <a:srgbClr val="000000"/>
              </a:solidFill>
              <a:latin typeface="Cambria"/>
              <a:ea typeface="Cambria"/>
            </a:endParaRPr>
          </a:p>
        </p:txBody>
      </p:sp>
      <p:sp>
        <p:nvSpPr>
          <p:cNvPr id="3" name="Text Placeholder 2"/>
          <p:cNvSpPr>
            <a:spLocks noGrp="1"/>
          </p:cNvSpPr>
          <p:nvPr>
            <p:ph type="body" idx="1"/>
          </p:nvPr>
        </p:nvSpPr>
        <p:spPr/>
        <p:txBody>
          <a:bodyPr>
            <a:normAutofit lnSpcReduction="10000"/>
          </a:bodyPr>
          <a:lstStyle/>
          <a:p>
            <a:pPr>
              <a:buNone/>
            </a:pPr>
            <a:r>
              <a:rPr lang="en-US" sz="1600" dirty="0">
                <a:latin typeface="Cambria"/>
                <a:ea typeface="Cambria"/>
              </a:rPr>
              <a:t>[11] O. </a:t>
            </a:r>
            <a:r>
              <a:rPr lang="en-US" sz="1600" dirty="0" err="1">
                <a:latin typeface="Cambria"/>
                <a:ea typeface="Cambria"/>
              </a:rPr>
              <a:t>Darojat</a:t>
            </a:r>
            <a:r>
              <a:rPr lang="en-US" sz="1600" dirty="0">
                <a:latin typeface="Cambria"/>
                <a:ea typeface="Cambria"/>
              </a:rPr>
              <a:t>, A. </a:t>
            </a:r>
            <a:r>
              <a:rPr lang="en-US" sz="1600" dirty="0" err="1">
                <a:latin typeface="Cambria"/>
                <a:ea typeface="Cambria"/>
              </a:rPr>
              <a:t>Sudrajat</a:t>
            </a:r>
            <a:r>
              <a:rPr lang="en-US" sz="1600" dirty="0">
                <a:latin typeface="Cambria"/>
                <a:ea typeface="Cambria"/>
              </a:rPr>
              <a:t>, </a:t>
            </a:r>
            <a:r>
              <a:rPr lang="en-US" sz="1600" dirty="0" err="1">
                <a:latin typeface="Cambria"/>
                <a:ea typeface="Cambria"/>
              </a:rPr>
              <a:t>Darsiharjo</a:t>
            </a:r>
            <a:r>
              <a:rPr lang="en-US" sz="1600" dirty="0">
                <a:latin typeface="Cambria"/>
                <a:ea typeface="Cambria"/>
              </a:rPr>
              <a:t>, L. D. </a:t>
            </a:r>
            <a:r>
              <a:rPr lang="en-US" sz="1600" dirty="0" err="1">
                <a:latin typeface="Cambria"/>
                <a:ea typeface="Cambria"/>
              </a:rPr>
              <a:t>Ningtyas</a:t>
            </a:r>
            <a:r>
              <a:rPr lang="en-US" sz="1600" dirty="0">
                <a:latin typeface="Cambria"/>
                <a:ea typeface="Cambria"/>
              </a:rPr>
              <a:t>, and C. </a:t>
            </a:r>
            <a:r>
              <a:rPr lang="en-US" sz="1600" dirty="0" err="1">
                <a:latin typeface="Cambria"/>
                <a:ea typeface="Cambria"/>
              </a:rPr>
              <a:t>Kustandi</a:t>
            </a:r>
            <a:r>
              <a:rPr lang="en-US" sz="1600" dirty="0">
                <a:latin typeface="Cambria"/>
                <a:ea typeface="Cambria"/>
              </a:rPr>
              <a:t>, “Implementation of learning media </a:t>
            </a:r>
            <a:r>
              <a:rPr lang="en-US" sz="1600" dirty="0" err="1">
                <a:latin typeface="Cambria"/>
                <a:ea typeface="Cambria"/>
              </a:rPr>
              <a:t>usedbystudents</a:t>
            </a:r>
            <a:r>
              <a:rPr lang="en-US" sz="1600" dirty="0">
                <a:latin typeface="Cambria"/>
                <a:ea typeface="Cambria"/>
              </a:rPr>
              <a:t> in rural areas: A mixed-method study,” 2025.</a:t>
            </a:r>
            <a:endParaRPr lang="en-US" sz="1600" dirty="0">
              <a:latin typeface="Cambria"/>
              <a:ea typeface="Cambria"/>
            </a:endParaRPr>
          </a:p>
          <a:p>
            <a:pPr>
              <a:buNone/>
            </a:pPr>
            <a:r>
              <a:rPr lang="en-US" sz="1600" dirty="0">
                <a:latin typeface="Cambria"/>
                <a:ea typeface="Cambria"/>
              </a:rPr>
              <a:t>[12] A. Zulfiqar, M. Bilal, and M. N. Iqbal, “Identification of factors affecting the quality of education in </a:t>
            </a:r>
            <a:r>
              <a:rPr lang="en-US" sz="1600" dirty="0" err="1">
                <a:latin typeface="Cambria"/>
                <a:ea typeface="Cambria"/>
              </a:rPr>
              <a:t>ruralareas’elementary</a:t>
            </a:r>
            <a:r>
              <a:rPr lang="en-US" sz="1600" dirty="0">
                <a:latin typeface="Cambria"/>
                <a:ea typeface="Cambria"/>
              </a:rPr>
              <a:t> schools,” 2024.</a:t>
            </a:r>
            <a:endParaRPr lang="en-US" sz="1600" dirty="0">
              <a:latin typeface="Cambria"/>
              <a:ea typeface="Cambria"/>
            </a:endParaRPr>
          </a:p>
          <a:p>
            <a:pPr>
              <a:buNone/>
            </a:pPr>
            <a:r>
              <a:rPr lang="en-US" sz="1600" dirty="0">
                <a:latin typeface="Cambria"/>
                <a:ea typeface="Cambria"/>
              </a:rPr>
              <a:t>[13] C. Wang, “Rural education development and reform: Implementation of quality education and innovation </a:t>
            </a:r>
            <a:r>
              <a:rPr lang="en-US" sz="1600" dirty="0" err="1">
                <a:latin typeface="Cambria"/>
                <a:ea typeface="Cambria"/>
              </a:rPr>
              <a:t>intheeducation</a:t>
            </a:r>
            <a:r>
              <a:rPr lang="en-US" sz="1600" dirty="0">
                <a:latin typeface="Cambria"/>
                <a:ea typeface="Cambria"/>
              </a:rPr>
              <a:t> system,” 2024.</a:t>
            </a:r>
            <a:endParaRPr lang="en-US" sz="1600" dirty="0">
              <a:latin typeface="Cambria"/>
              <a:ea typeface="Cambria"/>
            </a:endParaRPr>
          </a:p>
          <a:p>
            <a:pPr>
              <a:buNone/>
            </a:pPr>
            <a:r>
              <a:rPr lang="en-US" sz="1600" dirty="0">
                <a:latin typeface="Cambria"/>
                <a:ea typeface="Cambria"/>
              </a:rPr>
              <a:t>[14] R. Kapur, “Understanding education system in rural communities,” 2022.</a:t>
            </a:r>
            <a:endParaRPr lang="en-US" sz="1600" dirty="0">
              <a:latin typeface="Cambria"/>
              <a:ea typeface="Cambria"/>
            </a:endParaRPr>
          </a:p>
          <a:p>
            <a:pPr>
              <a:buNone/>
            </a:pPr>
            <a:r>
              <a:rPr lang="en-US" sz="1600" dirty="0">
                <a:latin typeface="Cambria"/>
                <a:ea typeface="Cambria"/>
              </a:rPr>
              <a:t>[15] K. S. Suryanarayana, V. S. P. Kandi, G. Pavani, A. S. Rao, S. Rout, and T. S. R. Krishna, “Artificial </a:t>
            </a:r>
            <a:r>
              <a:rPr lang="en-US" sz="1600" dirty="0" err="1">
                <a:latin typeface="Cambria"/>
                <a:ea typeface="Cambria"/>
              </a:rPr>
              <a:t>intelligenceenhanceddigital</a:t>
            </a:r>
            <a:r>
              <a:rPr lang="en-US" sz="1600" dirty="0">
                <a:latin typeface="Cambria"/>
                <a:ea typeface="Cambria"/>
              </a:rPr>
              <a:t> learning for the sustainability of education management system,” 2024.</a:t>
            </a:r>
            <a:endParaRPr lang="en-US" sz="1600" dirty="0">
              <a:latin typeface="Cambria"/>
              <a:ea typeface="Cambria"/>
            </a:endParaRPr>
          </a:p>
          <a:p>
            <a:pPr>
              <a:buNone/>
            </a:pPr>
            <a:r>
              <a:rPr lang="en-US" sz="1600" dirty="0">
                <a:latin typeface="Cambria"/>
                <a:ea typeface="Cambria"/>
              </a:rPr>
              <a:t>[16] Y. Sun et al., “Who changed the destiny of rural students, and how?: Unpacking ICT-mediated </a:t>
            </a:r>
            <a:r>
              <a:rPr lang="en-US" sz="1600" dirty="0" err="1">
                <a:latin typeface="Cambria"/>
                <a:ea typeface="Cambria"/>
              </a:rPr>
              <a:t>remoteeducation</a:t>
            </a:r>
            <a:r>
              <a:rPr lang="en-US" sz="1600" dirty="0">
                <a:latin typeface="Cambria"/>
                <a:ea typeface="Cambria"/>
              </a:rPr>
              <a:t> </a:t>
            </a:r>
            <a:r>
              <a:rPr lang="en-US" sz="1600" dirty="0" err="1">
                <a:latin typeface="Cambria"/>
                <a:ea typeface="Cambria"/>
              </a:rPr>
              <a:t>inrural</a:t>
            </a:r>
            <a:r>
              <a:rPr lang="en-US" sz="1600" dirty="0">
                <a:latin typeface="Cambria"/>
                <a:ea typeface="Cambria"/>
              </a:rPr>
              <a:t> China,” 2024.</a:t>
            </a:r>
            <a:endParaRPr lang="en-US" sz="1600" dirty="0">
              <a:latin typeface="Cambria"/>
              <a:ea typeface="Cambria"/>
            </a:endParaRPr>
          </a:p>
          <a:p>
            <a:pPr>
              <a:buNone/>
            </a:pPr>
            <a:r>
              <a:rPr lang="en-US" sz="1600" dirty="0">
                <a:latin typeface="Cambria"/>
                <a:ea typeface="Cambria"/>
              </a:rPr>
              <a:t>[17] S. M. Singh, S. K. Garg, A. Misra, A. Seth, and T. Chakraborty, “SUKHSANDESH: An avatar </a:t>
            </a:r>
            <a:r>
              <a:rPr lang="en-US" sz="1600" dirty="0" err="1">
                <a:latin typeface="Cambria"/>
                <a:ea typeface="Cambria"/>
              </a:rPr>
              <a:t>therapeuticquestionanswering</a:t>
            </a:r>
            <a:r>
              <a:rPr lang="en-US" sz="1600" dirty="0">
                <a:latin typeface="Cambria"/>
                <a:ea typeface="Cambria"/>
              </a:rPr>
              <a:t> platform for sexual education in rural India,” 2024.</a:t>
            </a:r>
            <a:endParaRPr lang="en-US" sz="1600" dirty="0">
              <a:latin typeface="Cambria"/>
              <a:ea typeface="Cambria"/>
            </a:endParaRPr>
          </a:p>
          <a:p>
            <a:pPr>
              <a:buNone/>
            </a:pPr>
            <a:r>
              <a:rPr lang="en-US" sz="1600" dirty="0">
                <a:latin typeface="Cambria"/>
                <a:ea typeface="Cambria"/>
              </a:rPr>
              <a:t>[18] T.-H. Hsieh and X. Lai, “Analyzing rural online education talent development with data and </a:t>
            </a:r>
            <a:r>
              <a:rPr lang="en-US" sz="1600" dirty="0" err="1">
                <a:latin typeface="Cambria"/>
                <a:ea typeface="Cambria"/>
              </a:rPr>
              <a:t>machinelearning</a:t>
            </a:r>
            <a:r>
              <a:rPr lang="en-US" sz="1600" dirty="0">
                <a:latin typeface="Cambria"/>
                <a:ea typeface="Cambria"/>
              </a:rPr>
              <a:t>,” 2024.</a:t>
            </a:r>
            <a:endParaRPr lang="en-US" sz="1600" dirty="0">
              <a:latin typeface="Cambria"/>
              <a:ea typeface="Cambria"/>
            </a:endParaRPr>
          </a:p>
          <a:p>
            <a:pPr>
              <a:buNone/>
            </a:pPr>
            <a:r>
              <a:rPr lang="en-US" sz="1600" dirty="0">
                <a:latin typeface="Cambria"/>
                <a:ea typeface="Cambria"/>
              </a:rPr>
              <a:t>[19] Multiple authors, “Research on the status quo of rural teaching based on generative artificialintelligence,”2024/2025.</a:t>
            </a:r>
            <a:endParaRPr lang="en-US" sz="1600" dirty="0">
              <a:latin typeface="Cambria"/>
              <a:ea typeface="Cambria"/>
            </a:endParaRPr>
          </a:p>
          <a:p>
            <a:pPr>
              <a:buNone/>
            </a:pPr>
            <a:r>
              <a:rPr lang="en-US" sz="1600" dirty="0">
                <a:latin typeface="Cambria"/>
                <a:ea typeface="Cambria"/>
              </a:rPr>
              <a:t>[20] A. Bardia and A. Agrawal, “</a:t>
            </a:r>
            <a:r>
              <a:rPr lang="en-US" sz="1600" dirty="0" err="1">
                <a:latin typeface="Cambria"/>
                <a:ea typeface="Cambria"/>
              </a:rPr>
              <a:t>MindCraft</a:t>
            </a:r>
            <a:r>
              <a:rPr lang="en-US" sz="1600" dirty="0">
                <a:latin typeface="Cambria"/>
                <a:ea typeface="Cambria"/>
              </a:rPr>
              <a:t>: Revolutionizing education through AI-powered personalized </a:t>
            </a:r>
            <a:r>
              <a:rPr lang="en-US" sz="1600" dirty="0" err="1">
                <a:latin typeface="Cambria"/>
                <a:ea typeface="Cambria"/>
              </a:rPr>
              <a:t>learningandmentorship</a:t>
            </a:r>
            <a:r>
              <a:rPr lang="en-US" sz="1600" dirty="0">
                <a:latin typeface="Cambria"/>
                <a:ea typeface="Cambria"/>
              </a:rPr>
              <a:t> for rural India,” 2025.</a:t>
            </a:r>
            <a:endParaRPr lang="en-US" sz="1600" dirty="0">
              <a:latin typeface="Cambria"/>
              <a:ea typeface="Cambria"/>
            </a:endParaRPr>
          </a:p>
          <a:p>
            <a:pPr marL="76200" indent="0">
              <a:buNone/>
            </a:pPr>
            <a:endParaRPr lang="en-US" sz="1600" dirty="0">
              <a:latin typeface="Cambria"/>
              <a:ea typeface="Cambria"/>
            </a:endParaRPr>
          </a:p>
          <a:p>
            <a:pPr marL="76200" indent="0">
              <a:buNone/>
            </a:pPr>
            <a:endParaRPr lang="en-US" sz="2200" dirty="0"/>
          </a:p>
          <a:p>
            <a:pPr marL="76200" indent="0">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10778</Words>
  <Application>WPS Writer</Application>
  <PresentationFormat>Widescreen</PresentationFormat>
  <Paragraphs>380</Paragraphs>
  <Slides>17</Slides>
  <Notes>8</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Arial</vt:lpstr>
      <vt:lpstr>SimSun</vt:lpstr>
      <vt:lpstr>Wingdings</vt:lpstr>
      <vt:lpstr>Arial</vt:lpstr>
      <vt:lpstr>Verdana</vt:lpstr>
      <vt:lpstr>Bookman Old Style</vt:lpstr>
      <vt:lpstr>Thonburi</vt:lpstr>
      <vt:lpstr>Cambria</vt:lpstr>
      <vt:lpstr>Cambria</vt:lpstr>
      <vt:lpstr>苹方-简</vt:lpstr>
      <vt:lpstr>Microsoft YaHei</vt:lpstr>
      <vt:lpstr>汉仪旗黑</vt:lpstr>
      <vt:lpstr>Arial Unicode MS</vt:lpstr>
      <vt:lpstr>Bioinformatics</vt:lpstr>
      <vt:lpstr>EduNLP: A Rule-Based Multilingual Smart Education System for Rural Learning</vt:lpstr>
      <vt:lpstr>Content</vt:lpstr>
      <vt:lpstr>Problem Statement</vt:lpstr>
      <vt:lpstr>Objectives</vt:lpstr>
      <vt:lpstr>Background and Related work</vt:lpstr>
      <vt:lpstr>Background and Related work(contd...)</vt:lpstr>
      <vt:lpstr>Background and Related work(contd...)</vt:lpstr>
      <vt:lpstr>Background and Related work(contd...)</vt:lpstr>
      <vt:lpstr>Architecture Diagram</vt:lpstr>
      <vt:lpstr>Modules</vt:lpstr>
      <vt:lpstr>Hardware and Software Requirements</vt:lpstr>
      <vt:lpstr>Innovation or Novel Contributions</vt:lpstr>
      <vt:lpstr> Git-hub Link </vt:lpstr>
      <vt:lpstr>Timeline of the Project (Gantt Chart)</vt:lpstr>
      <vt:lpstr>References (IEEE Paper format)</vt:lpstr>
      <vt:lpstr>References (IEEE Paper format)(contd...)</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srikorrapati</cp:lastModifiedBy>
  <cp:revision>419</cp:revision>
  <dcterms:created xsi:type="dcterms:W3CDTF">2025-11-27T16:02:35Z</dcterms:created>
  <dcterms:modified xsi:type="dcterms:W3CDTF">2025-11-27T16:02:35Z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1033-5.2.1.7924</vt:lpwstr>
  </property>
</Properties>
</file>