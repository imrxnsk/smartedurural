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9" r:id="rId9"/>
    <p:sldId id="277" r:id="rId10"/>
    <p:sldId id="278" r:id="rId11"/>
    <p:sldId id="273" r:id="rId12"/>
    <p:sldId id="271" r:id="rId13"/>
    <p:sldId id="288" r:id="rId14"/>
    <p:sldId id="270" r:id="rId15"/>
    <p:sldId id="265" r:id="rId16"/>
    <p:sldId id="280"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imrxnsk/SmartEduRural.git"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sym typeface="+mn-ea"/>
              </a:rPr>
              <a:t>SYSTEM TO ENHANCE EDUCATION QUALITY IN RURAL AREAS</a:t>
            </a:r>
            <a:endParaRPr lang="en-GB" sz="2400" dirty="0">
              <a:solidFill>
                <a:schemeClr val="tx1"/>
              </a:solidFill>
              <a:latin typeface="Cambria"/>
              <a:ea typeface="Cambria"/>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CSE_94</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a:ea typeface="Cambria"/>
                <a:cs typeface="Verdana" panose="020B0604030504040204"/>
                <a:sym typeface="Verdana" panose="020B0604030504040204"/>
              </a:rPr>
              <a:t>Under the Supervision of,</a:t>
            </a:r>
            <a:endParaRPr sz="1800" dirty="0">
              <a:latin typeface="Cambria"/>
              <a:ea typeface="Cambria"/>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lgn="just">
              <a:spcBef>
                <a:spcPts val="340"/>
              </a:spcBef>
              <a:buClr>
                <a:srgbClr val="17365D"/>
              </a:buClr>
              <a:buSzPts val="1700"/>
            </a:pPr>
            <a:r>
              <a:rPr lang="en-GB" sz="1700" b="1" i="0" u="none" strike="noStrike" cap="none" dirty="0">
                <a:solidFill>
                  <a:srgbClr val="17365D"/>
                </a:solidFill>
                <a:latin typeface="Cambria"/>
                <a:ea typeface="Cambria"/>
                <a:cs typeface="Verdana" panose="020B0604030504040204"/>
                <a:sym typeface="Verdana" panose="020B0604030504040204"/>
              </a:rPr>
              <a:t>Dr.</a:t>
            </a:r>
            <a:r>
              <a:rPr lang="en-GB" sz="1700" b="1" dirty="0">
                <a:solidFill>
                  <a:srgbClr val="17365D"/>
                </a:solidFill>
                <a:latin typeface="Cambria"/>
                <a:ea typeface="Cambria"/>
                <a:cs typeface="Verdana" panose="020B0604030504040204"/>
                <a:sym typeface="Verdana" panose="020B0604030504040204"/>
              </a:rPr>
              <a:t> Prema Arokia Mary 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panose="020B0604020202020204"/>
              <a:buNone/>
            </a:pPr>
            <a:r>
              <a:rPr lang="en-GB" sz="1700" b="1" dirty="0">
                <a:solidFill>
                  <a:srgbClr val="17365D"/>
                </a:solidFill>
                <a:latin typeface="Cambria"/>
                <a:ea typeface="Cambria"/>
                <a:cs typeface="Verdana" panose="020B0604030504040204"/>
                <a:sym typeface="Verdana" panose="020B0604030504040204"/>
              </a:rPr>
              <a:t>Associate</a:t>
            </a:r>
            <a:r>
              <a:rPr lang="en-GB" sz="1700" b="1" i="0" u="none" strike="noStrike" cap="none" dirty="0">
                <a:solidFill>
                  <a:srgbClr val="17365D"/>
                </a:solidFill>
                <a:latin typeface="Cambria"/>
                <a:ea typeface="Cambria"/>
                <a:cs typeface="Verdana" panose="020B0604030504040204"/>
                <a:sym typeface="Verdana" panose="020B0604030504040204"/>
              </a:rPr>
              <a:t> Professor </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School of Computer Science and Engineering</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t>20221CSE0484</a:t>
                      </a: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 SAI SRI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20221CSE0446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MEGHANA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20221CSE0061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SHAIK MOHAMMED IMRAN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a:t>
            </a:r>
            <a:r>
              <a:rPr lang="en-US" sz="1800" b="1" dirty="0" err="1">
                <a:solidFill>
                  <a:schemeClr val="accent1"/>
                </a:solidFill>
                <a:latin typeface="Cambria"/>
                <a:ea typeface="Cambria"/>
                <a:cs typeface="Verdana" panose="020B0604030504040204"/>
                <a:sym typeface="Verdana" panose="020B0604030504040204"/>
              </a:rPr>
              <a:t>B.Tech</a:t>
            </a:r>
            <a:r>
              <a:rPr lang="en-US" sz="1800" b="1" dirty="0">
                <a:solidFill>
                  <a:schemeClr val="accent1"/>
                </a:solidFill>
                <a:latin typeface="Cambria"/>
                <a:ea typeface="Cambria"/>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Blessed Prince</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 </a:t>
            </a:r>
            <a:r>
              <a:rPr lang="en-US" sz="1800" b="1" dirty="0">
                <a:solidFill>
                  <a:schemeClr val="tx1"/>
                </a:solidFill>
                <a:latin typeface="Cambria"/>
                <a:ea typeface="Cambria"/>
                <a:cs typeface="Verdana" panose="020B0604030504040204"/>
                <a:sym typeface="Verdana" panose="020B0604030504040204"/>
              </a:rPr>
              <a:t>DR. MUTHURAJU V</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868545"/>
          </a:xfrm>
          <a:prstGeom prst="rect">
            <a:avLst/>
          </a:prstGeom>
          <a:noFill/>
          <a:ln>
            <a:noFill/>
          </a:ln>
        </p:spPr>
        <p:txBody>
          <a:bodyPr spcFirstLastPara="1" wrap="square" lIns="91425" tIns="45700" rIns="91425" bIns="45700" anchor="t" anchorCtr="0">
            <a:normAutofit fontScale="8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Analysis of Problem Statement</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Innovation or Novel Contributions</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a:ea typeface="Cambria"/>
              </a:rPr>
              <a:t>Problem Statement</a:t>
            </a:r>
            <a:endParaRPr>
              <a:latin typeface="Cambria"/>
              <a:ea typeface="Cambria"/>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2500"/>
          </a:bodyPr>
          <a:lstStyle/>
          <a:p>
            <a:pPr marL="342900" indent="-190500">
              <a:lnSpc>
                <a:spcPct val="170000"/>
              </a:lnSpc>
              <a:spcBef>
                <a:spcPts val="0"/>
              </a:spcBef>
              <a:buNone/>
            </a:pPr>
            <a:r>
              <a:rPr lang="en-US" b="1" dirty="0">
                <a:latin typeface="Cambria"/>
                <a:ea typeface="Cambria"/>
              </a:rPr>
              <a:t>Problem Statement Number:</a:t>
            </a:r>
            <a:r>
              <a:rPr lang="en-US" dirty="0">
                <a:latin typeface="Cambria"/>
                <a:ea typeface="Cambria"/>
              </a:rPr>
              <a:t> PSCS_32</a:t>
            </a:r>
            <a:endParaRPr lang="en-US" dirty="0"/>
          </a:p>
          <a:p>
            <a:pPr marL="342900" indent="-190500">
              <a:lnSpc>
                <a:spcPct val="170000"/>
              </a:lnSpc>
              <a:spcBef>
                <a:spcPts val="0"/>
              </a:spcBef>
              <a:buNone/>
            </a:pPr>
            <a:r>
              <a:rPr lang="en-US" b="1" dirty="0">
                <a:latin typeface="Cambria"/>
                <a:ea typeface="Cambria"/>
              </a:rPr>
              <a:t>Organization:</a:t>
            </a:r>
            <a:r>
              <a:rPr lang="en-US" dirty="0">
                <a:latin typeface="Cambria"/>
                <a:ea typeface="Cambria"/>
              </a:rPr>
              <a:t> Government of Kerala</a:t>
            </a:r>
            <a:endParaRPr lang="en-US" dirty="0">
              <a:latin typeface="Cambria"/>
            </a:endParaRPr>
          </a:p>
          <a:p>
            <a:pPr marL="342900" indent="-190500">
              <a:lnSpc>
                <a:spcPct val="170000"/>
              </a:lnSpc>
              <a:spcBef>
                <a:spcPts val="0"/>
              </a:spcBef>
              <a:buNone/>
            </a:pPr>
            <a:r>
              <a:rPr lang="en-US" b="1" dirty="0">
                <a:latin typeface="Cambria"/>
                <a:ea typeface="Cambria"/>
              </a:rPr>
              <a:t>Category: </a:t>
            </a:r>
            <a:r>
              <a:rPr lang="en-US" dirty="0">
                <a:latin typeface="Cambria"/>
                <a:ea typeface="Cambria"/>
              </a:rPr>
              <a:t>Software </a:t>
            </a:r>
            <a:endParaRPr lang="en-US"/>
          </a:p>
          <a:p>
            <a:pPr marL="342900" indent="-190500">
              <a:lnSpc>
                <a:spcPct val="170000"/>
              </a:lnSpc>
              <a:spcBef>
                <a:spcPts val="0"/>
              </a:spcBef>
              <a:buNone/>
            </a:pPr>
            <a:r>
              <a:rPr lang="en-US" b="1" dirty="0">
                <a:latin typeface="Cambria"/>
                <a:ea typeface="Cambria"/>
              </a:rPr>
              <a:t>Problem Description:</a:t>
            </a:r>
            <a:r>
              <a:rPr lang="en-US" dirty="0">
                <a:latin typeface="Cambria"/>
                <a:ea typeface="Cambria"/>
              </a:rPr>
              <a:t> Ideate and implement a system to enhance the quality of education in rural areas.</a:t>
            </a:r>
            <a:endParaRPr lang="en-US" dirty="0"/>
          </a:p>
          <a:p>
            <a:pPr marL="342900" indent="-190500">
              <a:lnSpc>
                <a:spcPct val="170000"/>
              </a:lnSpc>
              <a:spcBef>
                <a:spcPts val="0"/>
              </a:spcBef>
              <a:buNone/>
            </a:pPr>
            <a:r>
              <a:rPr lang="en-US" dirty="0">
                <a:latin typeface="Cambria"/>
                <a:ea typeface="Cambria"/>
              </a:rPr>
              <a:t>The aim of the system should not only focus on increasing the literacy rate but also</a:t>
            </a:r>
            <a:endParaRPr lang="en-US" dirty="0">
              <a:latin typeface="Cambria"/>
              <a:ea typeface="Cambria"/>
            </a:endParaRPr>
          </a:p>
          <a:p>
            <a:pPr marL="342900" indent="-190500">
              <a:lnSpc>
                <a:spcPct val="170000"/>
              </a:lnSpc>
              <a:spcBef>
                <a:spcPts val="0"/>
              </a:spcBef>
              <a:buNone/>
            </a:pPr>
            <a:r>
              <a:rPr lang="en-US" dirty="0">
                <a:latin typeface="Cambria"/>
                <a:ea typeface="Cambria"/>
              </a:rPr>
              <a:t>should assist to elevate the communication skills and knowledge of the targeted</a:t>
            </a:r>
            <a:endParaRPr lang="en-US" dirty="0"/>
          </a:p>
          <a:p>
            <a:pPr marL="342900" indent="-190500">
              <a:lnSpc>
                <a:spcPct val="170000"/>
              </a:lnSpc>
              <a:spcBef>
                <a:spcPts val="0"/>
              </a:spcBef>
              <a:buNone/>
            </a:pPr>
            <a:r>
              <a:rPr lang="en-US" dirty="0">
                <a:latin typeface="Cambria"/>
                <a:ea typeface="Cambria"/>
              </a:rPr>
              <a:t>society.</a:t>
            </a:r>
            <a:endParaRPr lang="en-US" dirty="0"/>
          </a:p>
          <a:p>
            <a:pPr marL="342900" indent="-190500">
              <a:lnSpc>
                <a:spcPct val="170000"/>
              </a:lnSpc>
              <a:spcBef>
                <a:spcPts val="0"/>
              </a:spcBef>
              <a:buNone/>
            </a:pPr>
            <a:endParaRPr lang="en-US" dirty="0">
              <a:latin typeface="Cambria"/>
              <a:ea typeface="Cambria"/>
            </a:endParaRPr>
          </a:p>
          <a:p>
            <a:pPr marL="0" indent="0">
              <a:lnSpc>
                <a:spcPct val="170000"/>
              </a:lnSpc>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lstStyle/>
          <a:p>
            <a:pPr marL="285750" indent="-285750">
              <a:lnSpc>
                <a:spcPct val="150000"/>
              </a:lnSpc>
            </a:pPr>
            <a:r>
              <a:rPr lang="en-US" dirty="0">
                <a:latin typeface="Cambria"/>
              </a:rPr>
              <a:t>Provide study materials in local languages for rural students.</a:t>
            </a:r>
            <a:endParaRPr lang="en-US"/>
          </a:p>
          <a:p>
            <a:pPr marL="285750" indent="-285750">
              <a:lnSpc>
                <a:spcPct val="150000"/>
              </a:lnSpc>
            </a:pPr>
            <a:r>
              <a:rPr lang="en-US" dirty="0">
                <a:latin typeface="Cambria"/>
              </a:rPr>
              <a:t>Track each student’s learning progress and skills.</a:t>
            </a:r>
            <a:endParaRPr lang="en-US" dirty="0">
              <a:latin typeface="Cambria"/>
            </a:endParaRPr>
          </a:p>
          <a:p>
            <a:pPr marL="285750" indent="-285750">
              <a:lnSpc>
                <a:spcPct val="150000"/>
              </a:lnSpc>
            </a:pPr>
            <a:r>
              <a:rPr lang="en-US" dirty="0">
                <a:latin typeface="Cambria"/>
              </a:rPr>
              <a:t>Share information about scholarships, grants, and job opportunities.</a:t>
            </a:r>
            <a:endParaRPr lang="en-US" dirty="0">
              <a:latin typeface="Cambria"/>
            </a:endParaRPr>
          </a:p>
          <a:p>
            <a:pPr marL="76200" indent="0">
              <a:lnSpc>
                <a:spcPct val="150000"/>
              </a:lnSpc>
              <a:buNone/>
            </a:pPr>
            <a:endParaRPr lang="en-US" dirty="0">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a:bodyPr>
          <a:lstStyle/>
          <a:p>
            <a:pPr algn="just"/>
            <a:r>
              <a:rPr lang="en-US" sz="1700" dirty="0">
                <a:latin typeface="Cambria"/>
              </a:rPr>
              <a:t>In India, several government and non-government initiatives have tried to improve rural education. The </a:t>
            </a:r>
            <a:r>
              <a:rPr lang="en-US" sz="1700" b="1" dirty="0">
                <a:latin typeface="Cambria"/>
              </a:rPr>
              <a:t>Diksha</a:t>
            </a:r>
            <a:r>
              <a:rPr lang="en-US" sz="1700" dirty="0">
                <a:latin typeface="Cambria"/>
              </a:rPr>
              <a:t> platform offers free digital content for students and teachers, and </a:t>
            </a:r>
            <a:r>
              <a:rPr lang="en-US" sz="1700" b="1" dirty="0">
                <a:latin typeface="Cambria"/>
              </a:rPr>
              <a:t>SWAYAM</a:t>
            </a:r>
            <a:r>
              <a:rPr lang="en-US" sz="1700" dirty="0">
                <a:latin typeface="Cambria"/>
              </a:rPr>
              <a:t> provides online courses from top institutions. While these platforms are valuable, they depend on good internet connectivity and are often limited to a few languages, making them less effective in remote rural areas.</a:t>
            </a:r>
            <a:endParaRPr lang="en-US" sz="1700"/>
          </a:p>
          <a:p>
            <a:pPr algn="just"/>
            <a:r>
              <a:rPr lang="en-US" sz="1700" dirty="0">
                <a:latin typeface="Cambria"/>
                <a:ea typeface="Cambria"/>
              </a:rPr>
              <a:t>A national review by ITU indicates that even though digital tools and local content help, </a:t>
            </a:r>
            <a:r>
              <a:rPr lang="en-US" sz="1700" err="1">
                <a:latin typeface="Cambria"/>
                <a:ea typeface="Cambria"/>
              </a:rPr>
              <a:t>manyrural</a:t>
            </a:r>
            <a:r>
              <a:rPr lang="en-US" sz="1700" dirty="0">
                <a:latin typeface="Cambria"/>
                <a:ea typeface="Cambria"/>
              </a:rPr>
              <a:t> areas still struggle with connectivity, language barriers, and teacher training. </a:t>
            </a:r>
            <a:endParaRPr lang="en-US" sz="1700" dirty="0">
              <a:latin typeface="Cambria"/>
            </a:endParaRPr>
          </a:p>
          <a:p>
            <a:pPr algn="just"/>
            <a:r>
              <a:rPr lang="en-US" sz="1700" dirty="0">
                <a:latin typeface="Cambria"/>
              </a:rPr>
              <a:t>NGOs such as </a:t>
            </a:r>
            <a:r>
              <a:rPr lang="en-US" sz="1700" b="1" dirty="0">
                <a:latin typeface="Cambria"/>
              </a:rPr>
              <a:t>Pratham</a:t>
            </a:r>
            <a:r>
              <a:rPr lang="en-US" sz="1700" dirty="0">
                <a:latin typeface="Cambria"/>
              </a:rPr>
              <a:t> have worked to improve literacy rates through community-based programs, and </a:t>
            </a:r>
            <a:r>
              <a:rPr lang="en-US" sz="1700" b="1" dirty="0">
                <a:latin typeface="Cambria"/>
              </a:rPr>
              <a:t>Room to Read India</a:t>
            </a:r>
            <a:r>
              <a:rPr lang="en-US" sz="1700" dirty="0">
                <a:latin typeface="Cambria"/>
              </a:rPr>
              <a:t> has focused on enhancing reading skills and building school libraries. These efforts have made progress in increasing enrolment and basic literacy, but many rural students still struggle to access personalized learning, continuous mentorship, and career-related resources.</a:t>
            </a:r>
            <a:endParaRPr lang="en-US" sz="1700" dirty="0">
              <a:latin typeface="Cambria"/>
            </a:endParaRPr>
          </a:p>
          <a:p>
            <a:pPr algn="just"/>
            <a:r>
              <a:rPr lang="en-US" sz="1700" dirty="0">
                <a:latin typeface="Cambria"/>
              </a:rPr>
              <a:t>Government schemes like </a:t>
            </a:r>
            <a:r>
              <a:rPr lang="en-US" sz="1700" b="1" err="1">
                <a:latin typeface="Cambria"/>
              </a:rPr>
              <a:t>Samagra</a:t>
            </a:r>
            <a:r>
              <a:rPr lang="en-US" sz="1700" b="1" dirty="0">
                <a:latin typeface="Cambria"/>
              </a:rPr>
              <a:t> Shiksha Abhiyan</a:t>
            </a:r>
            <a:r>
              <a:rPr lang="en-US" sz="1700" dirty="0">
                <a:latin typeface="Cambria"/>
              </a:rPr>
              <a:t> and </a:t>
            </a:r>
            <a:r>
              <a:rPr lang="en-US" sz="1700" b="1" dirty="0">
                <a:latin typeface="Cambria"/>
              </a:rPr>
              <a:t>PM e-Vidya</a:t>
            </a:r>
            <a:r>
              <a:rPr lang="en-US" sz="1700" dirty="0">
                <a:latin typeface="Cambria"/>
              </a:rPr>
              <a:t> aim to strengthen school infrastructure and promote digital education, yet gaps remain in implementation, especially in areas with low internet speed, poor teacher training, and lack of local-language learning materials.</a:t>
            </a:r>
            <a:endParaRPr lang="en-US" sz="1700" dirty="0">
              <a:latin typeface="Cambria"/>
            </a:endParaRPr>
          </a:p>
          <a:p>
            <a:pPr algn="just"/>
            <a:r>
              <a:rPr lang="en-US" sz="1700" dirty="0">
                <a:latin typeface="Cambria"/>
              </a:rPr>
              <a:t>Our project builds on these efforts by combining multiple features like digital learning resources in local languages, mentorship, progress tracking, and access to scholarships and job opportunities into a single platform designed specifically for rural learners in India.</a:t>
            </a:r>
            <a:endParaRPr lang="en-US" sz="1700" dirty="0">
              <a:latin typeface="Cambria"/>
            </a:endParaRPr>
          </a:p>
          <a:p>
            <a:pPr algn="just"/>
            <a:endParaRPr lang="en-US" sz="1700" dirty="0">
              <a:latin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b="0" dirty="0">
              <a:solidFill>
                <a:srgbClr val="000000"/>
              </a:solidFill>
            </a:endParaRPr>
          </a:p>
        </p:txBody>
      </p:sp>
      <p:graphicFrame>
        <p:nvGraphicFramePr>
          <p:cNvPr id="5" name="Table 4"/>
          <p:cNvGraphicFramePr>
            <a:graphicFrameLocks noGrp="1"/>
          </p:cNvGraphicFramePr>
          <p:nvPr/>
        </p:nvGraphicFramePr>
        <p:xfrm>
          <a:off x="333375" y="993321"/>
          <a:ext cx="11520126" cy="4745765"/>
        </p:xfrm>
        <a:graphic>
          <a:graphicData uri="http://schemas.openxmlformats.org/drawingml/2006/table">
            <a:tbl>
              <a:tblPr bandRow="1"/>
              <a:tblGrid>
                <a:gridCol w="2326100"/>
                <a:gridCol w="884244"/>
                <a:gridCol w="2797721"/>
                <a:gridCol w="2820734"/>
                <a:gridCol w="2691327"/>
              </a:tblGrid>
              <a:tr h="427789">
                <a:tc>
                  <a:txBody>
                    <a:bodyPr/>
                    <a:lstStyle/>
                    <a:p>
                      <a:pPr lvl="0" algn="ctr" rtl="0">
                        <a:lnSpc>
                          <a:spcPts val="610"/>
                        </a:lnSpc>
                        <a:buNone/>
                      </a:pPr>
                      <a:endParaRPr lang="en-US" sz="1400" b="1" dirty="0">
                        <a:effectLst/>
                        <a:latin typeface="Cambria"/>
                      </a:endParaRPr>
                    </a:p>
                    <a:p>
                      <a:pPr lvl="0" algn="ctr">
                        <a:lnSpc>
                          <a:spcPts val="610"/>
                        </a:lnSpc>
                        <a:buNone/>
                      </a:pPr>
                      <a:r>
                        <a:rPr lang="en-US" sz="1400" b="1" dirty="0">
                          <a:effectLst/>
                          <a:latin typeface="Cambria"/>
                        </a:rPr>
                        <a:t>AUTHOR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YEAR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TITLE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METHODOLOGY</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INFERENCE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1547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Ojat </a:t>
                      </a:r>
                      <a:r>
                        <a:rPr lang="en-US" sz="1400" b="0" dirty="0" err="1">
                          <a:effectLst/>
                          <a:latin typeface="Cambria"/>
                        </a:rPr>
                        <a:t>Darojat</a:t>
                      </a:r>
                      <a:r>
                        <a:rPr lang="en-US" sz="1400" b="0" dirty="0">
                          <a:effectLst/>
                          <a:latin typeface="Cambria"/>
                        </a:rPr>
                        <a:t>, Ajat </a:t>
                      </a:r>
                      <a:r>
                        <a:rPr lang="en-US" sz="1400" b="0" dirty="0" err="1">
                          <a:effectLst/>
                          <a:latin typeface="Cambria"/>
                        </a:rPr>
                        <a:t>Sudrajat</a:t>
                      </a:r>
                      <a:r>
                        <a:rPr lang="en-US" sz="1400" b="0" dirty="0">
                          <a:effectLst/>
                          <a:latin typeface="Cambria"/>
                        </a:rPr>
                        <a:t>, </a:t>
                      </a:r>
                      <a:r>
                        <a:rPr lang="en-US" sz="1400" b="0" dirty="0" err="1">
                          <a:effectLst/>
                          <a:latin typeface="Cambria"/>
                        </a:rPr>
                        <a:t>Darsiharjo</a:t>
                      </a:r>
                      <a:r>
                        <a:rPr lang="en-US" sz="1400" b="0" dirty="0">
                          <a:effectLst/>
                          <a:latin typeface="Cambria"/>
                        </a:rPr>
                        <a:t>, Lisa Dwi </a:t>
                      </a:r>
                      <a:r>
                        <a:rPr lang="en-US" sz="1400" b="0" dirty="0" err="1">
                          <a:effectLst/>
                          <a:latin typeface="Cambria"/>
                        </a:rPr>
                        <a:t>Ningtyas</a:t>
                      </a:r>
                      <a:r>
                        <a:rPr lang="en-US" sz="1400" b="0" dirty="0">
                          <a:effectLst/>
                          <a:latin typeface="Cambria"/>
                        </a:rPr>
                        <a:t>, Cecep </a:t>
                      </a:r>
                      <a:r>
                        <a:rPr lang="en-US" sz="1400" b="0" dirty="0" err="1">
                          <a:effectLst/>
                          <a:latin typeface="Cambria"/>
                        </a:rPr>
                        <a:t>Kustandi</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2025</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endParaRPr lang="en-US" sz="1400" b="0" dirty="0">
                        <a:effectLst/>
                        <a:latin typeface="Cambria"/>
                      </a:endParaRPr>
                    </a:p>
                    <a:p>
                      <a:pPr lvl="0">
                        <a:lnSpc>
                          <a:spcPts val="535"/>
                        </a:lnSpc>
                        <a:buNone/>
                      </a:pPr>
                      <a:r>
                        <a:rPr lang="en-US" sz="1400" b="0" dirty="0">
                          <a:effectLst/>
                          <a:latin typeface="Cambria"/>
                        </a:rPr>
                        <a:t>Learning Media Use in Rural</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Mixed-method, GWT ANOVA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Flipped classroom w/ downloads best for low connectivity.</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9568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Ayesha Zulfiqar, Muhammad Bilal, Muhammad Nadeem Iqbal</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Factors Affecting Rural Schools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Quantitative survey</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Facilities, teaching quality, poverty strongly impact outcomes.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Chaoyang Wang</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Rural Edu. Reform</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Policy &amp; case analysis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Focus: student autonomy, teacher training, infrastructure.</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Radhika Kapur</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Education in Rural India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Qualitative descriptive</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Fix infra, recruit teachers, improve methods/resources.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4326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K.S. Suryanarayana, V.S. Prasad Kandi, G. Pavani, </a:t>
                      </a:r>
                      <a:r>
                        <a:rPr lang="en-US" sz="1400" b="0" dirty="0" err="1">
                          <a:effectLst/>
                          <a:latin typeface="Cambria"/>
                        </a:rPr>
                        <a:t>Akuthota</a:t>
                      </a:r>
                      <a:r>
                        <a:rPr lang="en-US" sz="1400" b="0" dirty="0">
                          <a:effectLst/>
                          <a:latin typeface="Cambria"/>
                        </a:rPr>
                        <a:t> Sankar Rao, Sandeep Rout, T. Siva Rama Krishna</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AI-Enhanced Learning </a:t>
                      </a:r>
                      <a:r>
                        <a:rPr lang="en-US" sz="1400" b="0" dirty="0" err="1">
                          <a:effectLst/>
                          <a:latin typeface="Cambria"/>
                        </a:rPr>
                        <a:t>Mgmt</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 system design</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Personalized learning, analytics aid sustainability; privacy concerns.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403193" y="1089532"/>
          <a:ext cx="11492560" cy="4095085"/>
        </p:xfrm>
        <a:graphic>
          <a:graphicData uri="http://schemas.openxmlformats.org/drawingml/2006/table">
            <a:tbl>
              <a:tblPr bandRow="1"/>
              <a:tblGrid>
                <a:gridCol w="2298516"/>
                <a:gridCol w="884253"/>
                <a:gridCol w="2797721"/>
                <a:gridCol w="3213554"/>
                <a:gridCol w="2298516"/>
              </a:tblGrid>
              <a:tr h="351985">
                <a:tc>
                  <a:txBody>
                    <a:bodyPr/>
                    <a:lstStyle/>
                    <a:p>
                      <a:pPr algn="ctr" rtl="0" fontAlgn="base">
                        <a:lnSpc>
                          <a:spcPts val="1200"/>
                        </a:lnSpc>
                        <a:buNone/>
                      </a:pPr>
                      <a:r>
                        <a:rPr lang="en-US" sz="1400" b="1" i="0" u="none" strike="noStrike" dirty="0">
                          <a:solidFill>
                            <a:srgbClr val="000000"/>
                          </a:solidFill>
                          <a:effectLst/>
                          <a:latin typeface="Cambria"/>
                        </a:rPr>
                        <a:t>AUTHOR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YEAR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TITLE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METHODOLOGY</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INFERENCE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70995">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Yang Yu, Desmond Appiah, Bernard Zulu, and Kofi Asamoah </a:t>
                      </a:r>
                      <a:r>
                        <a:rPr lang="en-US" sz="1100" b="0" i="0" u="none" strike="noStrike" noProof="0" err="1">
                          <a:solidFill>
                            <a:srgbClr val="000000"/>
                          </a:solidFill>
                          <a:effectLst/>
                          <a:latin typeface="Cambria"/>
                        </a:rPr>
                        <a:t>AduPoku</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Integrating Rural Dev., Edu. &amp; </a:t>
                      </a:r>
                      <a:r>
                        <a:rPr lang="en-US" sz="1200" b="0" i="0" u="none" strike="noStrike" noProof="0" err="1">
                          <a:solidFill>
                            <a:srgbClr val="000000"/>
                          </a:solidFill>
                          <a:effectLst/>
                          <a:latin typeface="Cambria"/>
                        </a:rPr>
                        <a:t>Mgmt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Literature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Community participation + tech → sustainable rural development.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55421">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Xining </a:t>
                      </a:r>
                      <a:r>
                        <a:rPr lang="en-US" sz="1100" b="0" i="0" u="none" strike="noStrike" noProof="0" err="1">
                          <a:solidFill>
                            <a:srgbClr val="000000"/>
                          </a:solidFill>
                          <a:effectLst/>
                          <a:latin typeface="Cambria"/>
                        </a:rPr>
                        <a:t>Wang,Gareth</a:t>
                      </a:r>
                      <a:r>
                        <a:rPr lang="en-US" sz="1100" b="0" i="0" u="none" strike="noStrike" noProof="0" dirty="0">
                          <a:solidFill>
                            <a:srgbClr val="000000"/>
                          </a:solidFill>
                          <a:effectLst/>
                          <a:latin typeface="Cambria"/>
                        </a:rPr>
                        <a:t> W. </a:t>
                      </a:r>
                      <a:r>
                        <a:rPr lang="en-US" sz="1100" b="0" i="0" u="none" strike="noStrike" noProof="0" err="1">
                          <a:solidFill>
                            <a:srgbClr val="000000"/>
                          </a:solidFill>
                          <a:effectLst/>
                          <a:latin typeface="Cambria"/>
                        </a:rPr>
                        <a:t>Young,Muhammad</a:t>
                      </a:r>
                      <a:r>
                        <a:rPr lang="en-US" sz="1100" b="0" i="0" u="none" strike="noStrike" noProof="0" dirty="0">
                          <a:solidFill>
                            <a:srgbClr val="000000"/>
                          </a:solidFill>
                          <a:effectLst/>
                          <a:latin typeface="Cambria"/>
                        </a:rPr>
                        <a:t> Zahid </a:t>
                      </a:r>
                      <a:r>
                        <a:rPr lang="en-US" sz="1100" b="0" i="0" u="none" strike="noStrike" noProof="0" err="1">
                          <a:solidFill>
                            <a:srgbClr val="000000"/>
                          </a:solidFill>
                          <a:effectLst/>
                          <a:latin typeface="Cambria"/>
                        </a:rPr>
                        <a:t>Iqbal,Conor</a:t>
                      </a:r>
                      <a:r>
                        <a:rPr lang="en-US" sz="1100" b="0" i="0" u="none" strike="noStrike" noProof="0" dirty="0">
                          <a:solidFill>
                            <a:srgbClr val="000000"/>
                          </a:solidFill>
                          <a:effectLst/>
                          <a:latin typeface="Cambria"/>
                        </a:rPr>
                        <a:t> Mc Guckin</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in Rural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Workshop + focus groups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seen as transformative for vocational &amp; contextual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Dr. Prem Das Maheshwari</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Intervention NEP 2020</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Policy/feature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infra + local content → bridge rural divide; but poor connectivity persists.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Muhammad Tahir Khan Farooqi ,Ishaq Amanat ,Muhammad Awan </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Ethics in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Systematic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 privacy risks, teacher resistance; need training &amp; safeguards.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64657">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Ying Lin, Northern Arizona</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Computer Networks in Distance Edu.</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Conceptual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Strong network infra vital for high-quality distance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349720" y="1146348"/>
          <a:ext cx="11492560" cy="4593737"/>
        </p:xfrm>
        <a:graphic>
          <a:graphicData uri="http://schemas.openxmlformats.org/drawingml/2006/table">
            <a:tbl>
              <a:tblPr bandRow="1"/>
              <a:tblGrid>
                <a:gridCol w="2298516"/>
                <a:gridCol w="884253"/>
                <a:gridCol w="2797721"/>
                <a:gridCol w="3213554"/>
                <a:gridCol w="2298516"/>
              </a:tblGrid>
              <a:tr h="440937">
                <a:tc>
                  <a:txBody>
                    <a:bodyPr/>
                    <a:lstStyle/>
                    <a:p>
                      <a:pPr lvl="0" algn="ctr" rtl="0">
                        <a:lnSpc>
                          <a:spcPts val="1200"/>
                        </a:lnSpc>
                        <a:buNone/>
                      </a:pPr>
                      <a:r>
                        <a:rPr lang="en-US" sz="1400" b="1" dirty="0">
                          <a:effectLst/>
                          <a:latin typeface="Cambria"/>
                        </a:rPr>
                        <a:t>AUTHOR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YEAR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TITLE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METHODOLOGY</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INFERENCE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00327">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Yuling Sun, </a:t>
                      </a:r>
                      <a:r>
                        <a:rPr lang="en-US" sz="1000" b="0" i="0" u="none" strike="noStrike" noProof="0" err="1">
                          <a:solidFill>
                            <a:srgbClr val="000000"/>
                          </a:solidFill>
                          <a:effectLst/>
                          <a:latin typeface="Cambria"/>
                        </a:rPr>
                        <a:t>Xiuqi</a:t>
                      </a:r>
                      <a:r>
                        <a:rPr lang="en-US" sz="1000" b="0" i="0" u="none" strike="noStrike" noProof="0" dirty="0">
                          <a:solidFill>
                            <a:srgbClr val="000000"/>
                          </a:solidFill>
                          <a:effectLst/>
                          <a:latin typeface="Cambria"/>
                        </a:rPr>
                        <a:t> Zhu, </a:t>
                      </a:r>
                      <a:r>
                        <a:rPr lang="en-US" sz="1000" b="0" i="0" u="none" strike="noStrike" noProof="0" err="1">
                          <a:solidFill>
                            <a:srgbClr val="000000"/>
                          </a:solidFill>
                          <a:effectLst/>
                          <a:latin typeface="Cambria"/>
                        </a:rPr>
                        <a:t>Xiaomu</a:t>
                      </a:r>
                      <a:r>
                        <a:rPr lang="en-US" sz="1000" b="0" i="0" u="none" strike="noStrike" noProof="0" dirty="0">
                          <a:solidFill>
                            <a:srgbClr val="000000"/>
                          </a:solidFill>
                          <a:effectLst/>
                          <a:latin typeface="Cambria"/>
                        </a:rPr>
                        <a:t> Zhou, </a:t>
                      </a:r>
                      <a:r>
                        <a:rPr lang="en-US" sz="1000" b="0" i="0" u="none" strike="noStrike" noProof="0" err="1">
                          <a:solidFill>
                            <a:srgbClr val="000000"/>
                          </a:solidFill>
                          <a:effectLst/>
                          <a:latin typeface="Cambria"/>
                        </a:rPr>
                        <a:t>Bingsheng</a:t>
                      </a:r>
                      <a:r>
                        <a:rPr lang="en-US" sz="1000" b="0" i="0" u="none" strike="noStrike" noProof="0" dirty="0">
                          <a:solidFill>
                            <a:srgbClr val="000000"/>
                          </a:solidFill>
                          <a:effectLst/>
                          <a:latin typeface="Cambria"/>
                        </a:rPr>
                        <a:t> Yao, Kai Zhang, </a:t>
                      </a:r>
                      <a:r>
                        <a:rPr lang="en-US" sz="1000" b="0" i="0" u="none" strike="noStrike" noProof="0" err="1">
                          <a:solidFill>
                            <a:srgbClr val="000000"/>
                          </a:solidFill>
                          <a:effectLst/>
                          <a:latin typeface="Cambria"/>
                        </a:rPr>
                        <a:t>Dakuo</a:t>
                      </a:r>
                      <a:r>
                        <a:rPr lang="en-US" sz="1000" b="0" i="0" u="none" strike="noStrike" noProof="0" dirty="0">
                          <a:solidFill>
                            <a:srgbClr val="000000"/>
                          </a:solidFill>
                          <a:effectLst/>
                          <a:latin typeface="Cambria"/>
                        </a:rPr>
                        <a:t> Wang, </a:t>
                      </a:r>
                      <a:r>
                        <a:rPr lang="en-US" sz="1000" b="0" i="0" u="none" strike="noStrike" noProof="0" err="1">
                          <a:solidFill>
                            <a:srgbClr val="000000"/>
                          </a:solidFill>
                          <a:effectLst/>
                          <a:latin typeface="Cambria"/>
                        </a:rPr>
                        <a:t>Jiaju</a:t>
                      </a:r>
                      <a:r>
                        <a:rPr lang="en-US" sz="1000" b="0" i="0" u="none" strike="noStrike" noProof="0" dirty="0">
                          <a:solidFill>
                            <a:srgbClr val="000000"/>
                          </a:solidFill>
                          <a:effectLst/>
                          <a:latin typeface="Cambria"/>
                        </a:rPr>
                        <a:t> Chen, Liang He</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2025</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ICT in Rural China</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Qualitative interviews &amp; obs.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Remote classes work if local teachers contextualize content.</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00164">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Salam Michael Singh, </a:t>
                      </a:r>
                      <a:r>
                        <a:rPr lang="en-US" sz="1000" b="0" i="0" u="none" strike="noStrike" noProof="0" dirty="0" err="1">
                          <a:solidFill>
                            <a:srgbClr val="000000"/>
                          </a:solidFill>
                          <a:effectLst/>
                          <a:latin typeface="Cambria"/>
                        </a:rPr>
                        <a:t>Shubhmoy</a:t>
                      </a:r>
                      <a:r>
                        <a:rPr lang="en-US" sz="1000" b="0" i="0" u="none" strike="noStrike" noProof="0" dirty="0">
                          <a:solidFill>
                            <a:srgbClr val="000000"/>
                          </a:solidFill>
                          <a:effectLst/>
                          <a:latin typeface="Cambria"/>
                        </a:rPr>
                        <a:t> Kumar Garg, Amitesh Misra, </a:t>
                      </a:r>
                      <a:r>
                        <a:rPr lang="en-US" sz="1000" b="0" i="0" u="none" strike="noStrike" noProof="0" dirty="0" err="1">
                          <a:solidFill>
                            <a:srgbClr val="000000"/>
                          </a:solidFill>
                          <a:effectLst/>
                          <a:latin typeface="Cambria"/>
                        </a:rPr>
                        <a:t>Aaditeshwar</a:t>
                      </a:r>
                      <a:r>
                        <a:rPr lang="en-US" sz="1000" b="0" i="0" u="none" strike="noStrike" noProof="0" dirty="0">
                          <a:solidFill>
                            <a:srgbClr val="000000"/>
                          </a:solidFill>
                          <a:effectLst/>
                          <a:latin typeface="Cambria"/>
                        </a:rPr>
                        <a:t> Seth, Tanmoy Chakraborty</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SUKHSANDESH AI Sexual Edu.</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Platform proposal</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AI avatars break stigma; need safety &amp; language localization.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err="1">
                          <a:solidFill>
                            <a:srgbClr val="000000"/>
                          </a:solidFill>
                          <a:effectLst/>
                          <a:latin typeface="Cambria"/>
                        </a:rPr>
                        <a:t>Te</a:t>
                      </a:r>
                      <a:r>
                        <a:rPr lang="en-US" sz="1000" b="0" i="0" u="none" strike="noStrike" noProof="0" dirty="0">
                          <a:solidFill>
                            <a:srgbClr val="000000"/>
                          </a:solidFill>
                          <a:effectLst/>
                          <a:latin typeface="Cambria"/>
                        </a:rPr>
                        <a:t>-Hsin Hsieh &amp; </a:t>
                      </a:r>
                      <a:r>
                        <a:rPr lang="en-US" sz="1000" b="0" i="0" u="none" strike="noStrike" noProof="0" dirty="0" err="1">
                          <a:solidFill>
                            <a:srgbClr val="000000"/>
                          </a:solidFill>
                          <a:effectLst/>
                          <a:latin typeface="Cambria"/>
                        </a:rPr>
                        <a:t>Xueye</a:t>
                      </a:r>
                      <a:r>
                        <a:rPr lang="en-US" sz="1000" b="0" i="0" u="none" strike="noStrike" noProof="0" dirty="0">
                          <a:solidFill>
                            <a:srgbClr val="000000"/>
                          </a:solidFill>
                          <a:effectLst/>
                          <a:latin typeface="Cambria"/>
                        </a:rPr>
                        <a:t> Lai</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for Rural Talent Dev.</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RF &amp; </a:t>
                      </a:r>
                      <a:r>
                        <a:rPr lang="en-US" sz="1400" b="0" i="0" u="none" strike="noStrike" noProof="0" dirty="0" err="1">
                          <a:solidFill>
                            <a:srgbClr val="000000"/>
                          </a:solidFill>
                          <a:effectLst/>
                          <a:latin typeface="Cambria"/>
                        </a:rPr>
                        <a:t>XGBoost</a:t>
                      </a:r>
                      <a:r>
                        <a:rPr lang="en-US" sz="1400" b="0" i="0" u="none" strike="noStrike" noProof="0" dirty="0">
                          <a:solidFill>
                            <a:srgbClr val="000000"/>
                          </a:solidFill>
                          <a:effectLst/>
                          <a:latin typeface="Cambria"/>
                        </a:rPr>
                        <a:t> analysis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predicts adaptability; supports scalable training.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Multiple authors</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in Rural Teaching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Analytical review</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personalized learning but infra gaps hinder adoption.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43115">
                <a:tc>
                  <a:txBody>
                    <a:bodyPr/>
                    <a:lstStyle/>
                    <a:p>
                      <a:pPr rtl="0" fontAlgn="base">
                        <a:lnSpc>
                          <a:spcPts val="1050"/>
                        </a:lnSpc>
                        <a:buNone/>
                      </a:pPr>
                      <a:r>
                        <a:rPr lang="en-US" sz="1200" b="1" dirty="0">
                          <a:effectLst/>
                          <a:latin typeface="Cambria"/>
                        </a:rPr>
                        <a:t> </a:t>
                      </a:r>
                      <a:r>
                        <a:rPr lang="en-US" sz="1000" b="0" i="0" u="none" strike="noStrike" noProof="0" dirty="0">
                          <a:solidFill>
                            <a:srgbClr val="000000"/>
                          </a:solidFill>
                          <a:effectLst/>
                          <a:latin typeface="Cambria"/>
                        </a:rPr>
                        <a:t>Arihant Bardia &amp; Aayush Agrawal</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err="1">
                          <a:solidFill>
                            <a:srgbClr val="000000"/>
                          </a:solidFill>
                          <a:effectLst/>
                          <a:latin typeface="Cambria"/>
                        </a:rPr>
                        <a:t>MindCraft</a:t>
                      </a:r>
                      <a:r>
                        <a:rPr lang="en-US" sz="1400" b="0" i="0" u="none" strike="noStrike" noProof="0" dirty="0">
                          <a:solidFill>
                            <a:srgbClr val="000000"/>
                          </a:solidFill>
                          <a:effectLst/>
                          <a:latin typeface="Cambria"/>
                        </a:rPr>
                        <a:t> AI Learning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System design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AI personalization + mentorship + low bandwidth support helps rural learners.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atin typeface="Cambria" panose="02040503050406030204" pitchFamily="18" charset="0"/>
                <a:ea typeface="Cambria" panose="02040503050406030204" pitchFamily="18" charset="0"/>
              </a:rPr>
              <a:t>Analysis of Problem Statement</a:t>
            </a:r>
            <a:endParaRPr lang="en-US">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pPr>
            <a:r>
              <a:rPr lang="en-US" dirty="0">
                <a:latin typeface="Cambria"/>
              </a:rPr>
              <a:t>Frontend (User Interface):HTML5, CSS3 + Bootstrap, JavaScript</a:t>
            </a:r>
            <a:endParaRPr lang="en-US" dirty="0"/>
          </a:p>
          <a:p>
            <a:pPr marL="495300" indent="-342900" algn="just">
              <a:lnSpc>
                <a:spcPct val="200000"/>
              </a:lnSpc>
              <a:spcBef>
                <a:spcPts val="0"/>
              </a:spcBef>
            </a:pPr>
            <a:r>
              <a:rPr lang="en-US" dirty="0">
                <a:latin typeface="Cambria"/>
              </a:rPr>
              <a:t>Backend (Server &amp; API): Node.js + Express.js</a:t>
            </a:r>
            <a:endParaRPr lang="en-US" dirty="0">
              <a:latin typeface="Cambria"/>
            </a:endParaRPr>
          </a:p>
          <a:p>
            <a:pPr marL="495300" indent="-342900" algn="just">
              <a:lnSpc>
                <a:spcPct val="200000"/>
              </a:lnSpc>
              <a:spcBef>
                <a:spcPts val="0"/>
              </a:spcBef>
            </a:pPr>
            <a:r>
              <a:rPr lang="en-US" dirty="0">
                <a:latin typeface="Cambria"/>
              </a:rPr>
              <a:t>Database: MongoDB (NoSQL)</a:t>
            </a:r>
            <a:endParaRPr lang="en-US" dirty="0">
              <a:latin typeface="Cambria"/>
            </a:endParaRPr>
          </a:p>
          <a:p>
            <a:pPr marL="495300" indent="-342900" algn="just">
              <a:lnSpc>
                <a:spcPct val="200000"/>
              </a:lnSpc>
              <a:spcBef>
                <a:spcPts val="0"/>
              </a:spcBef>
            </a:pPr>
            <a:r>
              <a:rPr lang="en-US" dirty="0">
                <a:latin typeface="Cambria"/>
              </a:rPr>
              <a:t>External APIs &amp; Services: Google Meet API, Google Translate API</a:t>
            </a:r>
            <a:endParaRPr lang="en-US" dirty="0">
              <a:latin typeface="Cambria"/>
            </a:endParaRPr>
          </a:p>
          <a:p>
            <a:pPr marL="495300" indent="-342900" algn="just">
              <a:lnSpc>
                <a:spcPct val="200000"/>
              </a:lnSpc>
              <a:spcBef>
                <a:spcPts val="0"/>
              </a:spcBef>
            </a:pPr>
            <a:r>
              <a:rPr lang="en-US" dirty="0">
                <a:latin typeface="Cambria"/>
              </a:rPr>
              <a:t>Hosting &amp; Deployment: GitHub, Netlify, Render</a:t>
            </a:r>
            <a:endParaRPr lang="en-US" dirty="0">
              <a:latin typeface="Cambria"/>
            </a:endParaRPr>
          </a:p>
          <a:p>
            <a:pPr marL="495300" indent="-342900" algn="just">
              <a:lnSpc>
                <a:spcPct val="200000"/>
              </a:lnSpc>
              <a:spcBef>
                <a:spcPts val="0"/>
              </a:spcBef>
            </a:pPr>
            <a:r>
              <a:rPr lang="en-US" dirty="0">
                <a:latin typeface="Cambria"/>
              </a:rPr>
              <a:t>Optional Enhancements: AI/NLP, Offline Access (PWA)</a:t>
            </a:r>
            <a:endParaRPr lang="en-US" dirty="0">
              <a:latin typeface="Cambria"/>
            </a:endParaRPr>
          </a:p>
          <a:p>
            <a:pPr marL="495300" lvl="0" indent="-342900" algn="just" rtl="0">
              <a:lnSpc>
                <a:spcPct val="200000"/>
              </a:lnSpc>
              <a:spcBef>
                <a:spcPts val="0"/>
              </a:spcBef>
              <a:spcAft>
                <a:spcPts val="0"/>
              </a:spcAft>
              <a:buClr>
                <a:schemeClr val="dk1"/>
              </a:buClr>
              <a:buSzPct val="100000"/>
            </a:pP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Innovation or Novel Contributions</a:t>
            </a:r>
            <a:endParaRPr lang="en-US"/>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algn="just">
              <a:buNone/>
            </a:pPr>
            <a:r>
              <a:rPr lang="en-US" dirty="0">
                <a:latin typeface="Cambria"/>
              </a:rPr>
              <a:t>Our system is unique because it:</a:t>
            </a:r>
            <a:endParaRPr lang="en-US" dirty="0">
              <a:latin typeface="Cambria"/>
            </a:endParaRPr>
          </a:p>
          <a:p>
            <a:pPr marL="285750" indent="-285750" algn="just"/>
            <a:r>
              <a:rPr lang="en-US" b="1" dirty="0">
                <a:latin typeface="Cambria"/>
              </a:rPr>
              <a:t>Brings everything into one platform</a:t>
            </a:r>
            <a:r>
              <a:rPr lang="en-US" dirty="0">
                <a:latin typeface="Cambria"/>
              </a:rPr>
              <a:t> – learning materials, mentorship, skill tracking, and career resources are all in one place.</a:t>
            </a:r>
            <a:endParaRPr lang="en-US" dirty="0">
              <a:latin typeface="Cambria"/>
            </a:endParaRPr>
          </a:p>
          <a:p>
            <a:pPr marL="285750" indent="-285750" algn="just"/>
            <a:r>
              <a:rPr lang="en-US" b="1" dirty="0">
                <a:latin typeface="Cambria"/>
              </a:rPr>
              <a:t>Supports multiple Indian languages</a:t>
            </a:r>
            <a:r>
              <a:rPr lang="en-US" dirty="0">
                <a:latin typeface="Cambria"/>
              </a:rPr>
              <a:t> – making learning easier and more inclusive for rural students.</a:t>
            </a:r>
            <a:endParaRPr lang="en-US" dirty="0">
              <a:latin typeface="Cambria"/>
            </a:endParaRPr>
          </a:p>
          <a:p>
            <a:pPr marL="285750" indent="-285750" algn="just"/>
            <a:r>
              <a:rPr lang="en-US" b="1" dirty="0">
                <a:latin typeface="Cambria"/>
              </a:rPr>
              <a:t>Provides personalized suggestions</a:t>
            </a:r>
            <a:r>
              <a:rPr lang="en-US" dirty="0">
                <a:latin typeface="Cambria"/>
              </a:rPr>
              <a:t> – uses basic AI logic to recommend study materials based on student progress.</a:t>
            </a:r>
            <a:endParaRPr lang="en-US" dirty="0">
              <a:latin typeface="Cambria"/>
            </a:endParaRPr>
          </a:p>
          <a:p>
            <a:pPr marL="285750" indent="-285750" algn="just"/>
            <a:r>
              <a:rPr lang="en-US" b="1" dirty="0">
                <a:latin typeface="Cambria"/>
              </a:rPr>
              <a:t>Connects learners with real mentors</a:t>
            </a:r>
            <a:r>
              <a:rPr lang="en-US" dirty="0">
                <a:latin typeface="Cambria"/>
              </a:rPr>
              <a:t> – for guidance, motivation, and career advice.</a:t>
            </a:r>
            <a:endParaRPr lang="en-US" dirty="0">
              <a:latin typeface="Cambria"/>
            </a:endParaRPr>
          </a:p>
          <a:p>
            <a:pPr marL="285750" indent="-285750" algn="just"/>
            <a:r>
              <a:rPr lang="en-US" b="1" dirty="0">
                <a:latin typeface="Cambria"/>
              </a:rPr>
              <a:t>Includes career and scholarship information</a:t>
            </a:r>
            <a:r>
              <a:rPr lang="en-US" dirty="0">
                <a:latin typeface="Cambria"/>
              </a:rPr>
              <a:t> – so students can find opportunities beyond academics.</a:t>
            </a:r>
            <a:endParaRPr lang="en-US" dirty="0">
              <a:latin typeface="Cambria"/>
            </a:endParaRPr>
          </a:p>
          <a:p>
            <a:pPr marL="285750" indent="-285750" algn="just"/>
            <a:r>
              <a:rPr lang="en-US" b="1" dirty="0">
                <a:latin typeface="Cambria"/>
                <a:ea typeface="Cambria"/>
              </a:rPr>
              <a:t>Works in low internet areas</a:t>
            </a:r>
            <a:r>
              <a:rPr lang="en-US" dirty="0">
                <a:latin typeface="Cambria"/>
                <a:ea typeface="Cambria"/>
              </a:rPr>
              <a:t> – offline access to study materials ensures no student is left out.</a:t>
            </a:r>
            <a:endParaRPr lang="en-US" dirty="0"/>
          </a:p>
          <a:p>
            <a:pPr marL="34290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err="1">
                <a:latin typeface="Cambria" panose="02040503050406030204" pitchFamily="18" charset="0"/>
                <a:ea typeface="Cambria" panose="02040503050406030204" pitchFamily="18" charset="0"/>
                <a:sym typeface="+mn-ea"/>
              </a:rPr>
            </a:b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br>
              <a:rPr lang="en-US">
                <a:latin typeface="Cambria" panose="02040503050406030204" pitchFamily="18" charset="0"/>
                <a:ea typeface="Cambria" panose="02040503050406030204" pitchFamily="18" charset="0"/>
              </a:rPr>
            </a:br>
            <a:endParaRPr lang="en-US"/>
          </a:p>
        </p:txBody>
      </p:sp>
      <p:sp>
        <p:nvSpPr>
          <p:cNvPr id="3" name="Text Placeholder 2"/>
          <p:cNvSpPr>
            <a:spLocks noGrp="1"/>
          </p:cNvSpPr>
          <p:nvPr>
            <p:ph type="body" idx="1"/>
          </p:nvPr>
        </p:nvSpPr>
        <p:spPr/>
        <p:txBody>
          <a:bodyPr/>
          <a:p>
            <a:pPr marL="76200" indent="0">
              <a:buNone/>
            </a:pPr>
            <a:endParaRPr lang="en-US">
              <a:hlinkClick r:id="rId1" action="ppaction://hlinkfile"/>
            </a:endParaRPr>
          </a:p>
          <a:p>
            <a:pPr marL="76200" indent="0">
              <a:buNone/>
            </a:pPr>
            <a:endParaRPr lang="en-US">
              <a:hlinkClick r:id="rId1" action="ppaction://hlinkfile"/>
            </a:endParaRPr>
          </a:p>
          <a:p>
            <a:pPr marL="76200" indent="0">
              <a:buNone/>
            </a:pPr>
            <a:endParaRPr lang="en-US">
              <a:hlinkClick r:id="rId1" action="ppaction://hlinkfile"/>
            </a:endParaRPr>
          </a:p>
          <a:p>
            <a:pPr marL="76200" indent="0">
              <a:buNone/>
            </a:pPr>
            <a:r>
              <a:rPr lang="en-US">
                <a:sym typeface="+mn-ea"/>
                <a:hlinkClick r:id="rId1" action="ppaction://hlinkfile"/>
              </a:rPr>
              <a:t> https://github.com/imrxnsk/SmartEduRural.git</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1"/>
          <a:srcRect l="74" t="16732" r="-75" b="-99"/>
          <a:stretch>
            <a:fillRect/>
          </a:stretch>
        </p:blipFill>
        <p:spPr>
          <a:xfrm>
            <a:off x="2122715" y="1132734"/>
            <a:ext cx="8048634" cy="49621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algn="just">
              <a:buNone/>
            </a:pPr>
            <a:r>
              <a:rPr lang="en-US" sz="1800" dirty="0">
                <a:latin typeface="Cambria"/>
              </a:rPr>
              <a:t>1] A. Bardia and A. Agrawal, “</a:t>
            </a:r>
            <a:r>
              <a:rPr lang="en-US" sz="1800" err="1">
                <a:latin typeface="Cambria"/>
              </a:rPr>
              <a:t>MindCraft</a:t>
            </a:r>
            <a:r>
              <a:rPr lang="en-US" sz="1800" dirty="0">
                <a:latin typeface="Cambria"/>
              </a:rPr>
              <a:t>: Revolutionizing Education through AI-Powered Personalized Learning and Mentorship for Rural India,” </a:t>
            </a:r>
            <a:r>
              <a:rPr lang="en-US" sz="1800" i="1" err="1">
                <a:latin typeface="Cambria"/>
              </a:rPr>
              <a:t>arXiv</a:t>
            </a:r>
            <a:r>
              <a:rPr lang="en-US" sz="1800" i="1" dirty="0">
                <a:latin typeface="Cambria"/>
              </a:rPr>
              <a:t> preprint</a:t>
            </a:r>
            <a:r>
              <a:rPr lang="en-US" sz="1800" dirty="0">
                <a:latin typeface="Cambria"/>
              </a:rPr>
              <a:t> arXiv:2502.05826, Feb. 2025. </a:t>
            </a:r>
            <a:endParaRPr lang="en-US" sz="1800" dirty="0">
              <a:latin typeface="Cambria"/>
            </a:endParaRPr>
          </a:p>
          <a:p>
            <a:pPr algn="just">
              <a:buNone/>
            </a:pPr>
            <a:r>
              <a:rPr lang="en-US" sz="1800" dirty="0">
                <a:latin typeface="Cambria"/>
              </a:rPr>
              <a:t>[2] Aashish Jain and Rohit Khokher, “Technologies for Quality and Sustainable Online Education in Rural India: A Comprehensive Review,” in </a:t>
            </a:r>
            <a:r>
              <a:rPr lang="en-US" sz="1800" i="1" dirty="0">
                <a:latin typeface="Cambria"/>
              </a:rPr>
              <a:t>Kaleidoscope: ITU Academic Conference</a:t>
            </a:r>
            <a:r>
              <a:rPr lang="en-US" sz="1800" dirty="0">
                <a:latin typeface="Cambria"/>
              </a:rPr>
              <a:t>, 2024. </a:t>
            </a:r>
            <a:endParaRPr lang="en-US">
              <a:latin typeface="Cambria"/>
            </a:endParaRPr>
          </a:p>
          <a:p>
            <a:pPr algn="just">
              <a:buNone/>
            </a:pPr>
            <a:r>
              <a:rPr lang="en-US" sz="1800" dirty="0">
                <a:latin typeface="Cambria"/>
              </a:rPr>
              <a:t>[3] R. Vaidehi, A. </a:t>
            </a:r>
            <a:r>
              <a:rPr lang="en-US" sz="1800" err="1">
                <a:latin typeface="Cambria"/>
              </a:rPr>
              <a:t>Bheemeshwar</a:t>
            </a:r>
            <a:r>
              <a:rPr lang="en-US" sz="1800" dirty="0">
                <a:latin typeface="Cambria"/>
              </a:rPr>
              <a:t> Reddy, and S. Banerjee, “Explaining Caste-based Digital Divide in India,” </a:t>
            </a:r>
            <a:r>
              <a:rPr lang="en-US" sz="1800" i="1" err="1">
                <a:latin typeface="Cambria"/>
              </a:rPr>
              <a:t>arXiv</a:t>
            </a:r>
            <a:r>
              <a:rPr lang="en-US" sz="1800" i="1" dirty="0">
                <a:latin typeface="Cambria"/>
              </a:rPr>
              <a:t> preprint</a:t>
            </a:r>
            <a:r>
              <a:rPr lang="en-US" sz="1800" dirty="0">
                <a:latin typeface="Cambria"/>
              </a:rPr>
              <a:t> arXiv:2106.15917, Jun. 2021. </a:t>
            </a:r>
            <a:endParaRPr lang="en-US" sz="1800" dirty="0">
              <a:latin typeface="Cambria"/>
            </a:endParaRPr>
          </a:p>
          <a:p>
            <a:pPr algn="just">
              <a:buNone/>
            </a:pPr>
            <a:r>
              <a:rPr lang="en-US" sz="1800" dirty="0">
                <a:latin typeface="Cambria"/>
              </a:rPr>
              <a:t>[4] S. Hussain, Z. Wang, and S. Rahim, “E-learning Services for Rural Communities,” </a:t>
            </a:r>
            <a:r>
              <a:rPr lang="en-US" sz="1800" i="1" err="1">
                <a:latin typeface="Cambria"/>
              </a:rPr>
              <a:t>arXiv</a:t>
            </a:r>
            <a:r>
              <a:rPr lang="en-US" sz="1800" i="1" dirty="0">
                <a:latin typeface="Cambria"/>
              </a:rPr>
              <a:t> preprint</a:t>
            </a:r>
            <a:r>
              <a:rPr lang="en-US" sz="1800" dirty="0">
                <a:latin typeface="Cambria"/>
              </a:rPr>
              <a:t> arXiv:1308.4820, Aug. 2013. </a:t>
            </a:r>
            <a:endParaRPr lang="en-US" sz="1800" dirty="0">
              <a:latin typeface="Cambria"/>
            </a:endParaRPr>
          </a:p>
          <a:p>
            <a:pPr algn="just">
              <a:buNone/>
            </a:pPr>
            <a:r>
              <a:rPr lang="en-US" sz="1800" dirty="0">
                <a:latin typeface="Cambria"/>
              </a:rPr>
              <a:t>[5] N. Singh, S. Singh, B. Goswami, S. Kumar, and B. Kumar, “Bridging the Digital Divide: A Comprehensive Analysis of ICT Infrastructure in Rural Schools of Jharkhand, India,” </a:t>
            </a:r>
            <a:r>
              <a:rPr lang="en-US" sz="1800" i="1" dirty="0">
                <a:latin typeface="Cambria"/>
              </a:rPr>
              <a:t>Educational Administration: Theory and Practice</a:t>
            </a:r>
            <a:r>
              <a:rPr lang="en-US" sz="1800" dirty="0">
                <a:latin typeface="Cambria"/>
              </a:rPr>
              <a:t>, vol. 30, no. 6, pp. 4456–4460, Jun. 2024. </a:t>
            </a:r>
            <a:endParaRPr lang="en-US" sz="1800" dirty="0">
              <a:latin typeface="Cambria"/>
            </a:endParaRPr>
          </a:p>
          <a:p>
            <a:pPr algn="just">
              <a:buNone/>
            </a:pPr>
            <a:r>
              <a:rPr lang="en-US" sz="1800" dirty="0">
                <a:latin typeface="Cambria"/>
              </a:rPr>
              <a:t>[6] Y. Yu, D. Appiah, B. Zulu, and K. A. </a:t>
            </a:r>
            <a:r>
              <a:rPr lang="en-US" sz="1800" dirty="0" err="1">
                <a:latin typeface="Cambria"/>
              </a:rPr>
              <a:t>AduPoku</a:t>
            </a:r>
            <a:r>
              <a:rPr lang="en-US" sz="1800" dirty="0">
                <a:latin typeface="Cambria"/>
              </a:rPr>
              <a:t>, “Integrating Rural Development, Education, and Management: Challenges and Strategies,” 2024.</a:t>
            </a:r>
            <a:endParaRPr lang="en-US" dirty="0">
              <a:latin typeface="Cambria"/>
            </a:endParaRPr>
          </a:p>
          <a:p>
            <a:pPr algn="just">
              <a:buNone/>
            </a:pPr>
            <a:r>
              <a:rPr lang="en-US" sz="1800" dirty="0">
                <a:latin typeface="Cambria"/>
              </a:rPr>
              <a:t>[7] X. Wang, G. W. Young, M. Z. Iqbal, and C. Mc Guckin, “The potential of extended reality in rural education’s future – perspectives from rural educators,” 2024.</a:t>
            </a:r>
            <a:endParaRPr lang="en-US" dirty="0">
              <a:latin typeface="Cambria"/>
            </a:endParaRPr>
          </a:p>
          <a:p>
            <a:pPr algn="just">
              <a:buNone/>
            </a:pPr>
            <a:r>
              <a:rPr lang="en-US" sz="1800" dirty="0">
                <a:latin typeface="Cambria"/>
              </a:rPr>
              <a:t>[8] P. D. Maheshwari, “Digital intervention in elementary education: </a:t>
            </a:r>
            <a:r>
              <a:rPr lang="en-US" sz="1800" dirty="0" err="1">
                <a:latin typeface="Cambria"/>
              </a:rPr>
              <a:t>Analysing</a:t>
            </a:r>
            <a:r>
              <a:rPr lang="en-US" sz="1800" dirty="0">
                <a:latin typeface="Cambria"/>
              </a:rPr>
              <a:t> the implementation of NEP 2020 in rural India,” 2024.</a:t>
            </a:r>
            <a:endParaRPr lang="en-US" dirty="0">
              <a:latin typeface="Cambria"/>
            </a:endParaRPr>
          </a:p>
          <a:p>
            <a:pPr algn="just">
              <a:buNone/>
            </a:pPr>
            <a:r>
              <a:rPr lang="en-US" sz="1800" dirty="0">
                <a:latin typeface="Cambria"/>
              </a:rPr>
              <a:t>[9] M. T. K. Farooqi, I. Amanat, and M. Awan, “Ethical considerations and challenges in the integration of artificial intelligence in education: A systematic review,” Sep. 15, 2024.</a:t>
            </a:r>
            <a:endParaRPr lang="en-US" dirty="0">
              <a:latin typeface="Cambria"/>
            </a:endParaRPr>
          </a:p>
          <a:p>
            <a:pPr algn="just">
              <a:buNone/>
            </a:pPr>
            <a:r>
              <a:rPr lang="en-US" sz="1800" dirty="0">
                <a:latin typeface="Cambria"/>
              </a:rPr>
              <a:t>[10] Y. Lin, “Application and challenges of computer networks in distance education,” 2024.</a:t>
            </a:r>
            <a:endParaRPr lang="en-US" dirty="0">
              <a:latin typeface="Cambria"/>
            </a:endParaRPr>
          </a:p>
          <a:p>
            <a:pPr algn="just">
              <a:buNone/>
            </a:pPr>
            <a:endParaRPr lang="en-US" sz="1800" dirty="0">
              <a:latin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a:ea typeface="Cambria"/>
              </a:rPr>
              <a:t>References (IEEE Paper format)(contd...)</a:t>
            </a:r>
            <a:endParaRPr lang="en-US" b="0" dirty="0">
              <a:solidFill>
                <a:srgbClr val="000000"/>
              </a:solidFill>
              <a:latin typeface="Cambria"/>
              <a:ea typeface="Cambria"/>
            </a:endParaRPr>
          </a:p>
        </p:txBody>
      </p:sp>
      <p:sp>
        <p:nvSpPr>
          <p:cNvPr id="3" name="Text Placeholder 2"/>
          <p:cNvSpPr>
            <a:spLocks noGrp="1"/>
          </p:cNvSpPr>
          <p:nvPr>
            <p:ph type="body" idx="1"/>
          </p:nvPr>
        </p:nvSpPr>
        <p:spPr/>
        <p:txBody>
          <a:bodyPr>
            <a:normAutofit lnSpcReduction="10000"/>
          </a:bodyPr>
          <a:lstStyle/>
          <a:p>
            <a:pPr>
              <a:buNone/>
            </a:pPr>
            <a:r>
              <a:rPr lang="en-US" sz="1600" dirty="0">
                <a:latin typeface="Cambria"/>
                <a:ea typeface="Cambria"/>
              </a:rPr>
              <a:t>[11] O. </a:t>
            </a:r>
            <a:r>
              <a:rPr lang="en-US" sz="1600" dirty="0" err="1">
                <a:latin typeface="Cambria"/>
                <a:ea typeface="Cambria"/>
              </a:rPr>
              <a:t>Darojat</a:t>
            </a:r>
            <a:r>
              <a:rPr lang="en-US" sz="1600" dirty="0">
                <a:latin typeface="Cambria"/>
                <a:ea typeface="Cambria"/>
              </a:rPr>
              <a:t>, A. </a:t>
            </a:r>
            <a:r>
              <a:rPr lang="en-US" sz="1600" dirty="0" err="1">
                <a:latin typeface="Cambria"/>
                <a:ea typeface="Cambria"/>
              </a:rPr>
              <a:t>Sudrajat</a:t>
            </a:r>
            <a:r>
              <a:rPr lang="en-US" sz="1600" dirty="0">
                <a:latin typeface="Cambria"/>
                <a:ea typeface="Cambria"/>
              </a:rPr>
              <a:t>, </a:t>
            </a:r>
            <a:r>
              <a:rPr lang="en-US" sz="1600" dirty="0" err="1">
                <a:latin typeface="Cambria"/>
                <a:ea typeface="Cambria"/>
              </a:rPr>
              <a:t>Darsiharjo</a:t>
            </a:r>
            <a:r>
              <a:rPr lang="en-US" sz="1600" dirty="0">
                <a:latin typeface="Cambria"/>
                <a:ea typeface="Cambria"/>
              </a:rPr>
              <a:t>, L. D. </a:t>
            </a:r>
            <a:r>
              <a:rPr lang="en-US" sz="1600" dirty="0" err="1">
                <a:latin typeface="Cambria"/>
                <a:ea typeface="Cambria"/>
              </a:rPr>
              <a:t>Ningtyas</a:t>
            </a:r>
            <a:r>
              <a:rPr lang="en-US" sz="1600" dirty="0">
                <a:latin typeface="Cambria"/>
                <a:ea typeface="Cambria"/>
              </a:rPr>
              <a:t>, and C. </a:t>
            </a:r>
            <a:r>
              <a:rPr lang="en-US" sz="1600" dirty="0" err="1">
                <a:latin typeface="Cambria"/>
                <a:ea typeface="Cambria"/>
              </a:rPr>
              <a:t>Kustandi</a:t>
            </a:r>
            <a:r>
              <a:rPr lang="en-US" sz="1600" dirty="0">
                <a:latin typeface="Cambria"/>
                <a:ea typeface="Cambria"/>
              </a:rPr>
              <a:t>, “Implementation of learning media </a:t>
            </a:r>
            <a:r>
              <a:rPr lang="en-US" sz="1600" dirty="0" err="1">
                <a:latin typeface="Cambria"/>
                <a:ea typeface="Cambria"/>
              </a:rPr>
              <a:t>usedbystudents</a:t>
            </a:r>
            <a:r>
              <a:rPr lang="en-US" sz="1600" dirty="0">
                <a:latin typeface="Cambria"/>
                <a:ea typeface="Cambria"/>
              </a:rPr>
              <a:t> in rural areas: A mixed-method study,” 2025.</a:t>
            </a:r>
            <a:endParaRPr lang="en-US" sz="1600" dirty="0">
              <a:latin typeface="Cambria"/>
              <a:ea typeface="Cambria"/>
            </a:endParaRPr>
          </a:p>
          <a:p>
            <a:pPr>
              <a:buNone/>
            </a:pPr>
            <a:r>
              <a:rPr lang="en-US" sz="1600" dirty="0">
                <a:latin typeface="Cambria"/>
                <a:ea typeface="Cambria"/>
              </a:rPr>
              <a:t>[12] A. Zulfiqar, M. Bilal, and M. N. Iqbal, “Identification of factors affecting the quality of education in </a:t>
            </a:r>
            <a:r>
              <a:rPr lang="en-US" sz="1600" dirty="0" err="1">
                <a:latin typeface="Cambria"/>
                <a:ea typeface="Cambria"/>
              </a:rPr>
              <a:t>ruralareas’elementary</a:t>
            </a:r>
            <a:r>
              <a:rPr lang="en-US" sz="1600" dirty="0">
                <a:latin typeface="Cambria"/>
                <a:ea typeface="Cambria"/>
              </a:rPr>
              <a:t> schools,” 2024.</a:t>
            </a:r>
            <a:endParaRPr lang="en-US" sz="1600" dirty="0">
              <a:latin typeface="Cambria"/>
              <a:ea typeface="Cambria"/>
            </a:endParaRPr>
          </a:p>
          <a:p>
            <a:pPr>
              <a:buNone/>
            </a:pPr>
            <a:r>
              <a:rPr lang="en-US" sz="1600" dirty="0">
                <a:latin typeface="Cambria"/>
                <a:ea typeface="Cambria"/>
              </a:rPr>
              <a:t>[13] C. Wang, “Rural education development and reform: Implementation of quality education and innovation </a:t>
            </a:r>
            <a:r>
              <a:rPr lang="en-US" sz="1600" dirty="0" err="1">
                <a:latin typeface="Cambria"/>
                <a:ea typeface="Cambria"/>
              </a:rPr>
              <a:t>intheeducation</a:t>
            </a:r>
            <a:r>
              <a:rPr lang="en-US" sz="1600" dirty="0">
                <a:latin typeface="Cambria"/>
                <a:ea typeface="Cambria"/>
              </a:rPr>
              <a:t> system,” 2024.</a:t>
            </a:r>
            <a:endParaRPr lang="en-US" sz="1600" dirty="0">
              <a:latin typeface="Cambria"/>
              <a:ea typeface="Cambria"/>
            </a:endParaRPr>
          </a:p>
          <a:p>
            <a:pPr>
              <a:buNone/>
            </a:pPr>
            <a:r>
              <a:rPr lang="en-US" sz="1600" dirty="0">
                <a:latin typeface="Cambria"/>
                <a:ea typeface="Cambria"/>
              </a:rPr>
              <a:t>[14] R. Kapur, “Understanding education system in rural communities,” 2022.</a:t>
            </a:r>
            <a:endParaRPr lang="en-US" sz="1600" dirty="0">
              <a:latin typeface="Cambria"/>
              <a:ea typeface="Cambria"/>
            </a:endParaRPr>
          </a:p>
          <a:p>
            <a:pPr>
              <a:buNone/>
            </a:pPr>
            <a:r>
              <a:rPr lang="en-US" sz="1600" dirty="0">
                <a:latin typeface="Cambria"/>
                <a:ea typeface="Cambria"/>
              </a:rPr>
              <a:t>[15] K. S. Suryanarayana, V. S. P. Kandi, G. Pavani, A. S. Rao, S. Rout, and T. S. R. Krishna, “Artificial </a:t>
            </a:r>
            <a:r>
              <a:rPr lang="en-US" sz="1600" dirty="0" err="1">
                <a:latin typeface="Cambria"/>
                <a:ea typeface="Cambria"/>
              </a:rPr>
              <a:t>intelligenceenhanceddigital</a:t>
            </a:r>
            <a:r>
              <a:rPr lang="en-US" sz="1600" dirty="0">
                <a:latin typeface="Cambria"/>
                <a:ea typeface="Cambria"/>
              </a:rPr>
              <a:t> learning for the sustainability of education management system,” 2024.</a:t>
            </a:r>
            <a:endParaRPr lang="en-US" sz="1600" dirty="0">
              <a:latin typeface="Cambria"/>
              <a:ea typeface="Cambria"/>
            </a:endParaRPr>
          </a:p>
          <a:p>
            <a:pPr>
              <a:buNone/>
            </a:pPr>
            <a:r>
              <a:rPr lang="en-US" sz="1600" dirty="0">
                <a:latin typeface="Cambria"/>
                <a:ea typeface="Cambria"/>
              </a:rPr>
              <a:t>[16] Y. Sun et al., “Who changed the destiny of rural students, and how?: Unpacking ICT-mediated </a:t>
            </a:r>
            <a:r>
              <a:rPr lang="en-US" sz="1600" dirty="0" err="1">
                <a:latin typeface="Cambria"/>
                <a:ea typeface="Cambria"/>
              </a:rPr>
              <a:t>remoteeducation</a:t>
            </a:r>
            <a:r>
              <a:rPr lang="en-US" sz="1600" dirty="0">
                <a:latin typeface="Cambria"/>
                <a:ea typeface="Cambria"/>
              </a:rPr>
              <a:t> </a:t>
            </a:r>
            <a:r>
              <a:rPr lang="en-US" sz="1600" dirty="0" err="1">
                <a:latin typeface="Cambria"/>
                <a:ea typeface="Cambria"/>
              </a:rPr>
              <a:t>inrural</a:t>
            </a:r>
            <a:r>
              <a:rPr lang="en-US" sz="1600" dirty="0">
                <a:latin typeface="Cambria"/>
                <a:ea typeface="Cambria"/>
              </a:rPr>
              <a:t> China,” 2024.</a:t>
            </a:r>
            <a:endParaRPr lang="en-US" sz="1600" dirty="0">
              <a:latin typeface="Cambria"/>
              <a:ea typeface="Cambria"/>
            </a:endParaRPr>
          </a:p>
          <a:p>
            <a:pPr>
              <a:buNone/>
            </a:pPr>
            <a:r>
              <a:rPr lang="en-US" sz="1600" dirty="0">
                <a:latin typeface="Cambria"/>
                <a:ea typeface="Cambria"/>
              </a:rPr>
              <a:t>[17] S. M. Singh, S. K. Garg, A. Misra, A. Seth, and T. Chakraborty, “SUKHSANDESH: An avatar </a:t>
            </a:r>
            <a:r>
              <a:rPr lang="en-US" sz="1600" dirty="0" err="1">
                <a:latin typeface="Cambria"/>
                <a:ea typeface="Cambria"/>
              </a:rPr>
              <a:t>therapeuticquestionanswering</a:t>
            </a:r>
            <a:r>
              <a:rPr lang="en-US" sz="1600" dirty="0">
                <a:latin typeface="Cambria"/>
                <a:ea typeface="Cambria"/>
              </a:rPr>
              <a:t> platform for sexual education in rural India,” 2024.</a:t>
            </a:r>
            <a:endParaRPr lang="en-US" sz="1600" dirty="0">
              <a:latin typeface="Cambria"/>
              <a:ea typeface="Cambria"/>
            </a:endParaRPr>
          </a:p>
          <a:p>
            <a:pPr>
              <a:buNone/>
            </a:pPr>
            <a:r>
              <a:rPr lang="en-US" sz="1600" dirty="0">
                <a:latin typeface="Cambria"/>
                <a:ea typeface="Cambria"/>
              </a:rPr>
              <a:t>[18] T.-H. Hsieh and X. Lai, “Analyzing rural online education talent development with data and </a:t>
            </a:r>
            <a:r>
              <a:rPr lang="en-US" sz="1600" dirty="0" err="1">
                <a:latin typeface="Cambria"/>
                <a:ea typeface="Cambria"/>
              </a:rPr>
              <a:t>machinelearning</a:t>
            </a:r>
            <a:r>
              <a:rPr lang="en-US" sz="1600" dirty="0">
                <a:latin typeface="Cambria"/>
                <a:ea typeface="Cambria"/>
              </a:rPr>
              <a:t>,” 2024.</a:t>
            </a:r>
            <a:endParaRPr lang="en-US" sz="1600" dirty="0">
              <a:latin typeface="Cambria"/>
              <a:ea typeface="Cambria"/>
            </a:endParaRPr>
          </a:p>
          <a:p>
            <a:pPr>
              <a:buNone/>
            </a:pPr>
            <a:r>
              <a:rPr lang="en-US" sz="1600" dirty="0">
                <a:latin typeface="Cambria"/>
                <a:ea typeface="Cambria"/>
              </a:rPr>
              <a:t>[19] Multiple authors, “Research on the status quo of rural teaching based on generative artificialintelligence,”2024/2025.</a:t>
            </a:r>
            <a:endParaRPr lang="en-US" sz="1600" dirty="0">
              <a:latin typeface="Cambria"/>
              <a:ea typeface="Cambria"/>
            </a:endParaRPr>
          </a:p>
          <a:p>
            <a:pPr>
              <a:buNone/>
            </a:pPr>
            <a:r>
              <a:rPr lang="en-US" sz="1600" dirty="0">
                <a:latin typeface="Cambria"/>
                <a:ea typeface="Cambria"/>
              </a:rPr>
              <a:t>[20] A. Bardia and A. Agrawal, “</a:t>
            </a:r>
            <a:r>
              <a:rPr lang="en-US" sz="1600" dirty="0" err="1">
                <a:latin typeface="Cambria"/>
                <a:ea typeface="Cambria"/>
              </a:rPr>
              <a:t>MindCraft</a:t>
            </a:r>
            <a:r>
              <a:rPr lang="en-US" sz="1600" dirty="0">
                <a:latin typeface="Cambria"/>
                <a:ea typeface="Cambria"/>
              </a:rPr>
              <a:t>: Revolutionizing education through AI-powered personalized </a:t>
            </a:r>
            <a:r>
              <a:rPr lang="en-US" sz="1600" dirty="0" err="1">
                <a:latin typeface="Cambria"/>
                <a:ea typeface="Cambria"/>
              </a:rPr>
              <a:t>learningandmentorship</a:t>
            </a:r>
            <a:r>
              <a:rPr lang="en-US" sz="1600" dirty="0">
                <a:latin typeface="Cambria"/>
                <a:ea typeface="Cambria"/>
              </a:rPr>
              <a:t> for rural India,” 2025.</a:t>
            </a:r>
            <a:endParaRPr lang="en-US" sz="1600" dirty="0">
              <a:latin typeface="Cambria"/>
              <a:ea typeface="Cambria"/>
            </a:endParaRPr>
          </a:p>
          <a:p>
            <a:pPr marL="76200" indent="0">
              <a:buNone/>
            </a:pPr>
            <a:endParaRPr lang="en-US" sz="1600" dirty="0">
              <a:latin typeface="Cambria"/>
              <a:ea typeface="Cambria"/>
            </a:endParaRPr>
          </a:p>
          <a:p>
            <a:pPr marL="76200" indent="0">
              <a:buNone/>
            </a:pPr>
            <a:endParaRPr lang="en-US" sz="2200" dirty="0"/>
          </a:p>
          <a:p>
            <a:pPr marL="7620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9758</Words>
  <Application>WPS Writer</Application>
  <PresentationFormat>Widescreen</PresentationFormat>
  <Paragraphs>344</Paragraphs>
  <Slides>15</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Verdana</vt:lpstr>
      <vt:lpstr>Bookman Old Style</vt:lpstr>
      <vt:lpstr>Thonburi</vt:lpstr>
      <vt:lpstr>Cambria</vt:lpstr>
      <vt:lpstr>Cambria</vt:lpstr>
      <vt:lpstr>苹方-简</vt:lpstr>
      <vt:lpstr>Microsoft YaHei</vt:lpstr>
      <vt:lpstr>汉仪旗黑</vt:lpstr>
      <vt:lpstr>Arial Unicode MS</vt:lpstr>
      <vt:lpstr>Bioinformatics</vt:lpstr>
      <vt:lpstr>EduNLP: A Rule-Based Multilingual Smart Education System for Rural Learning</vt:lpstr>
      <vt:lpstr>Content</vt:lpstr>
      <vt:lpstr>Problem Statement</vt:lpstr>
      <vt:lpstr>Objectives</vt:lpstr>
      <vt:lpstr>Background and Related work</vt:lpstr>
      <vt:lpstr>Background and Related work(contd...)</vt:lpstr>
      <vt:lpstr>Background and Related work(contd...)</vt:lpstr>
      <vt:lpstr>Background and Related work(contd...)</vt:lpstr>
      <vt:lpstr>Analysis of Problem Statement</vt:lpstr>
      <vt:lpstr>Innovation or Novel Contributions</vt:lpstr>
      <vt:lpstr> Git-hub Link </vt:lpstr>
      <vt:lpstr>Timeline of the Project (Gantt Chart)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srikorrapati</cp:lastModifiedBy>
  <cp:revision>358</cp:revision>
  <dcterms:created xsi:type="dcterms:W3CDTF">2025-11-27T16:02:29Z</dcterms:created>
  <dcterms:modified xsi:type="dcterms:W3CDTF">2025-11-27T16:02:29Z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